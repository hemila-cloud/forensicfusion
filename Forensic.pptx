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MS)" panose="020B0604020202020204" charset="0"/>
      <p:regular r:id="rId11"/>
    </p:embeddedFont>
    <p:embeddedFont>
      <p:font typeface="Calibri (MS) Bold" panose="020B0604020202020204" charset="0"/>
      <p:regular r:id="rId12"/>
    </p:embeddedFont>
    <p:embeddedFont>
      <p:font typeface="HK Grotesk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50000">
              <a:srgbClr val="32032F">
                <a:alpha val="100000"/>
              </a:srgbClr>
            </a:gs>
            <a:gs pos="100000">
              <a:srgbClr val="701B74">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383165" y="3962400"/>
            <a:ext cx="15533235" cy="2031325"/>
          </a:xfrm>
          <a:prstGeom prst="rect">
            <a:avLst/>
          </a:prstGeom>
        </p:spPr>
        <p:txBody>
          <a:bodyPr wrap="square" lIns="0" tIns="0" rIns="0" bIns="0" rtlCol="0" anchor="t">
            <a:spAutoFit/>
          </a:bodyPr>
          <a:lstStyle/>
          <a:p>
            <a:r>
              <a:rPr lang="en-US" sz="4400" b="1" dirty="0">
                <a:solidFill>
                  <a:schemeClr val="bg1"/>
                </a:solidFill>
              </a:rPr>
              <a:t>An Integrated Forensic Intelligence Framework Using Benford’s Law and a Graph Neural Network for Explainable and Graph-Based Financial Fraud Detection</a:t>
            </a:r>
            <a:endParaRPr lang="en-IN" sz="4400" dirty="0">
              <a:solidFill>
                <a:schemeClr val="bg1"/>
              </a:solidFill>
            </a:endParaRPr>
          </a:p>
        </p:txBody>
      </p:sp>
      <p:grpSp>
        <p:nvGrpSpPr>
          <p:cNvPr id="3" name="Group 3"/>
          <p:cNvGrpSpPr/>
          <p:nvPr/>
        </p:nvGrpSpPr>
        <p:grpSpPr>
          <a:xfrm rot="8635896">
            <a:off x="2372223" y="1114108"/>
            <a:ext cx="3623585" cy="263623"/>
            <a:chOff x="0" y="0"/>
            <a:chExt cx="952142" cy="69270"/>
          </a:xfrm>
        </p:grpSpPr>
        <p:sp>
          <p:nvSpPr>
            <p:cNvPr id="4" name="Freeform 4"/>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5" name="TextBox 5"/>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grpSp>
        <p:nvGrpSpPr>
          <p:cNvPr id="6" name="Group 6"/>
          <p:cNvGrpSpPr/>
          <p:nvPr/>
        </p:nvGrpSpPr>
        <p:grpSpPr>
          <a:xfrm rot="-2464847">
            <a:off x="355729" y="8892451"/>
            <a:ext cx="3623585" cy="263623"/>
            <a:chOff x="0" y="0"/>
            <a:chExt cx="952142" cy="69270"/>
          </a:xfrm>
        </p:grpSpPr>
        <p:sp>
          <p:nvSpPr>
            <p:cNvPr id="7" name="Freeform 7"/>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8" name="TextBox 8"/>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grpSp>
        <p:nvGrpSpPr>
          <p:cNvPr id="9" name="Group 9"/>
          <p:cNvGrpSpPr/>
          <p:nvPr/>
        </p:nvGrpSpPr>
        <p:grpSpPr>
          <a:xfrm rot="8635896">
            <a:off x="4084427" y="679668"/>
            <a:ext cx="3623585" cy="263623"/>
            <a:chOff x="0" y="0"/>
            <a:chExt cx="952142" cy="69270"/>
          </a:xfrm>
        </p:grpSpPr>
        <p:sp>
          <p:nvSpPr>
            <p:cNvPr id="10" name="Freeform 10"/>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11" name="TextBox 11"/>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grpSp>
        <p:nvGrpSpPr>
          <p:cNvPr id="12" name="Group 12"/>
          <p:cNvGrpSpPr/>
          <p:nvPr/>
        </p:nvGrpSpPr>
        <p:grpSpPr>
          <a:xfrm rot="-2464847">
            <a:off x="-1311970" y="9474826"/>
            <a:ext cx="3623585" cy="263623"/>
            <a:chOff x="0" y="0"/>
            <a:chExt cx="952142" cy="69270"/>
          </a:xfrm>
        </p:grpSpPr>
        <p:sp>
          <p:nvSpPr>
            <p:cNvPr id="13" name="Freeform 13"/>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14" name="TextBox 14"/>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sp>
        <p:nvSpPr>
          <p:cNvPr id="15" name="TextBox 15"/>
          <p:cNvSpPr txBox="1"/>
          <p:nvPr/>
        </p:nvSpPr>
        <p:spPr>
          <a:xfrm>
            <a:off x="2641913" y="2609231"/>
            <a:ext cx="13981591" cy="685800"/>
          </a:xfrm>
          <a:prstGeom prst="rect">
            <a:avLst/>
          </a:prstGeom>
        </p:spPr>
        <p:txBody>
          <a:bodyPr lIns="0" tIns="0" rIns="0" bIns="0" rtlCol="0" anchor="t">
            <a:spAutoFit/>
          </a:bodyPr>
          <a:lstStyle/>
          <a:p>
            <a:pPr marL="0" lvl="0" indent="0" algn="l">
              <a:lnSpc>
                <a:spcPts val="4799"/>
              </a:lnSpc>
              <a:spcBef>
                <a:spcPct val="0"/>
              </a:spcBef>
            </a:pPr>
            <a:r>
              <a:rPr lang="en-US" sz="3999" b="1" spc="299">
                <a:solidFill>
                  <a:srgbClr val="FFFFFF"/>
                </a:solidFill>
                <a:latin typeface="Calibri (MS) Bold"/>
                <a:ea typeface="Calibri (MS) Bold"/>
                <a:cs typeface="Calibri (MS) Bold"/>
                <a:sym typeface="Calibri (MS) Bold"/>
              </a:rPr>
              <a:t>CSE4074- Forensics 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50751" y="150936"/>
            <a:ext cx="10137249" cy="10287000"/>
            <a:chOff x="0" y="0"/>
            <a:chExt cx="2669893" cy="2709333"/>
          </a:xfrm>
        </p:grpSpPr>
        <p:sp>
          <p:nvSpPr>
            <p:cNvPr id="3" name="Freeform 3"/>
            <p:cNvSpPr/>
            <p:nvPr/>
          </p:nvSpPr>
          <p:spPr>
            <a:xfrm>
              <a:off x="0" y="0"/>
              <a:ext cx="2669893" cy="2709333"/>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adFill rotWithShape="1">
              <a:gsLst>
                <a:gs pos="0">
                  <a:srgbClr val="000000">
                    <a:alpha val="100000"/>
                  </a:srgbClr>
                </a:gs>
                <a:gs pos="50000">
                  <a:srgbClr val="32032F">
                    <a:alpha val="100000"/>
                  </a:srgbClr>
                </a:gs>
                <a:gs pos="100000">
                  <a:srgbClr val="701B74">
                    <a:alpha val="100000"/>
                  </a:srgbClr>
                </a:gs>
              </a:gsLst>
              <a:lin ang="0"/>
            </a:gradFill>
            <a:ln cap="rnd">
              <a:noFill/>
              <a:prstDash val="solid"/>
              <a:round/>
            </a:ln>
          </p:spPr>
          <p:txBody>
            <a:bodyPr/>
            <a:lstStyle/>
            <a:p>
              <a:endParaRPr lang="en-IN"/>
            </a:p>
          </p:txBody>
        </p:sp>
        <p:sp>
          <p:nvSpPr>
            <p:cNvPr id="4" name="TextBox 4"/>
            <p:cNvSpPr txBox="1"/>
            <p:nvPr/>
          </p:nvSpPr>
          <p:spPr>
            <a:xfrm>
              <a:off x="0" y="-57150"/>
              <a:ext cx="2669893" cy="2766483"/>
            </a:xfrm>
            <a:prstGeom prst="rect">
              <a:avLst/>
            </a:prstGeom>
          </p:spPr>
          <p:txBody>
            <a:bodyPr lIns="50800" tIns="50800" rIns="50800" bIns="50800" rtlCol="0" anchor="ctr"/>
            <a:lstStyle/>
            <a:p>
              <a:pPr marL="0" lvl="0" indent="0" algn="ctr">
                <a:lnSpc>
                  <a:spcPts val="3447"/>
                </a:lnSpc>
                <a:spcBef>
                  <a:spcPct val="0"/>
                </a:spcBef>
              </a:pPr>
              <a:endParaRPr/>
            </a:p>
          </p:txBody>
        </p:sp>
      </p:grpSp>
      <p:sp>
        <p:nvSpPr>
          <p:cNvPr id="5" name="TextBox 5"/>
          <p:cNvSpPr txBox="1"/>
          <p:nvPr/>
        </p:nvSpPr>
        <p:spPr>
          <a:xfrm>
            <a:off x="759378" y="448103"/>
            <a:ext cx="7016423" cy="1070000"/>
          </a:xfrm>
          <a:prstGeom prst="rect">
            <a:avLst/>
          </a:prstGeom>
        </p:spPr>
        <p:txBody>
          <a:bodyPr lIns="0" tIns="0" rIns="0" bIns="0" rtlCol="0" anchor="t">
            <a:spAutoFit/>
          </a:bodyPr>
          <a:lstStyle/>
          <a:p>
            <a:pPr marL="0" lvl="0" indent="0" algn="l">
              <a:lnSpc>
                <a:spcPts val="8038"/>
              </a:lnSpc>
            </a:pPr>
            <a:r>
              <a:rPr lang="en-US" sz="5220" b="1" spc="391">
                <a:solidFill>
                  <a:srgbClr val="000000"/>
                </a:solidFill>
                <a:latin typeface="Calibri (MS) Bold"/>
                <a:ea typeface="Calibri (MS) Bold"/>
                <a:cs typeface="Calibri (MS) Bold"/>
                <a:sym typeface="Calibri (MS) Bold"/>
              </a:rPr>
              <a:t>Problem Statement</a:t>
            </a:r>
          </a:p>
        </p:txBody>
      </p:sp>
      <p:sp>
        <p:nvSpPr>
          <p:cNvPr id="6" name="AutoShape 6"/>
          <p:cNvSpPr/>
          <p:nvPr/>
        </p:nvSpPr>
        <p:spPr>
          <a:xfrm>
            <a:off x="8998951" y="677829"/>
            <a:ext cx="8515355" cy="0"/>
          </a:xfrm>
          <a:prstGeom prst="line">
            <a:avLst/>
          </a:prstGeom>
          <a:ln w="9525" cap="flat">
            <a:solidFill>
              <a:srgbClr val="FFFFFF"/>
            </a:solidFill>
            <a:prstDash val="solid"/>
            <a:headEnd type="none" w="sm" len="sm"/>
            <a:tailEnd type="none" w="sm" len="sm"/>
          </a:ln>
        </p:spPr>
        <p:txBody>
          <a:bodyPr/>
          <a:lstStyle/>
          <a:p>
            <a:endParaRPr lang="en-IN"/>
          </a:p>
        </p:txBody>
      </p:sp>
      <p:sp>
        <p:nvSpPr>
          <p:cNvPr id="7" name="AutoShape 7"/>
          <p:cNvSpPr/>
          <p:nvPr/>
        </p:nvSpPr>
        <p:spPr>
          <a:xfrm>
            <a:off x="8998951" y="9727160"/>
            <a:ext cx="8515355" cy="0"/>
          </a:xfrm>
          <a:prstGeom prst="line">
            <a:avLst/>
          </a:prstGeom>
          <a:ln w="9525" cap="flat">
            <a:solidFill>
              <a:srgbClr val="FFFFFF"/>
            </a:solidFill>
            <a:prstDash val="solid"/>
            <a:headEnd type="none" w="sm" len="sm"/>
            <a:tailEnd type="none" w="sm" len="sm"/>
          </a:ln>
        </p:spPr>
        <p:txBody>
          <a:bodyPr/>
          <a:lstStyle/>
          <a:p>
            <a:endParaRPr lang="en-IN"/>
          </a:p>
        </p:txBody>
      </p:sp>
      <p:grpSp>
        <p:nvGrpSpPr>
          <p:cNvPr id="8" name="Group 8"/>
          <p:cNvGrpSpPr/>
          <p:nvPr/>
        </p:nvGrpSpPr>
        <p:grpSpPr>
          <a:xfrm>
            <a:off x="759378" y="6270520"/>
            <a:ext cx="5869557" cy="5449001"/>
            <a:chOff x="0" y="0"/>
            <a:chExt cx="909348" cy="844193"/>
          </a:xfrm>
        </p:grpSpPr>
        <p:sp>
          <p:nvSpPr>
            <p:cNvPr id="9" name="Freeform 9"/>
            <p:cNvSpPr/>
            <p:nvPr/>
          </p:nvSpPr>
          <p:spPr>
            <a:xfrm>
              <a:off x="0" y="0"/>
              <a:ext cx="909348" cy="844193"/>
            </a:xfrm>
            <a:custGeom>
              <a:avLst/>
              <a:gdLst/>
              <a:ahLst/>
              <a:cxnLst/>
              <a:rect l="l" t="t" r="r" b="b"/>
              <a:pathLst>
                <a:path w="909348" h="844193">
                  <a:moveTo>
                    <a:pt x="77821" y="0"/>
                  </a:moveTo>
                  <a:lnTo>
                    <a:pt x="831527" y="0"/>
                  </a:lnTo>
                  <a:cubicBezTo>
                    <a:pt x="852167" y="0"/>
                    <a:pt x="871961" y="8199"/>
                    <a:pt x="886555" y="22793"/>
                  </a:cubicBezTo>
                  <a:cubicBezTo>
                    <a:pt x="901149" y="37387"/>
                    <a:pt x="909348" y="57181"/>
                    <a:pt x="909348" y="77821"/>
                  </a:cubicBezTo>
                  <a:lnTo>
                    <a:pt x="909348" y="766372"/>
                  </a:lnTo>
                  <a:cubicBezTo>
                    <a:pt x="909348" y="809351"/>
                    <a:pt x="874507" y="844193"/>
                    <a:pt x="831527" y="844193"/>
                  </a:cubicBezTo>
                  <a:lnTo>
                    <a:pt x="77821" y="844193"/>
                  </a:lnTo>
                  <a:cubicBezTo>
                    <a:pt x="57181" y="844193"/>
                    <a:pt x="37387" y="835994"/>
                    <a:pt x="22793" y="821400"/>
                  </a:cubicBezTo>
                  <a:cubicBezTo>
                    <a:pt x="8199" y="806805"/>
                    <a:pt x="0" y="787011"/>
                    <a:pt x="0" y="766372"/>
                  </a:cubicBezTo>
                  <a:lnTo>
                    <a:pt x="0" y="77821"/>
                  </a:lnTo>
                  <a:cubicBezTo>
                    <a:pt x="0" y="57181"/>
                    <a:pt x="8199" y="37387"/>
                    <a:pt x="22793" y="22793"/>
                  </a:cubicBezTo>
                  <a:cubicBezTo>
                    <a:pt x="37387" y="8199"/>
                    <a:pt x="57181" y="0"/>
                    <a:pt x="77821" y="0"/>
                  </a:cubicBezTo>
                  <a:close/>
                </a:path>
              </a:pathLst>
            </a:custGeom>
            <a:blipFill>
              <a:blip r:embed="rId2"/>
              <a:stretch>
                <a:fillRect l="-19626" r="-19626"/>
              </a:stretch>
            </a:blipFill>
          </p:spPr>
          <p:txBody>
            <a:bodyPr/>
            <a:lstStyle/>
            <a:p>
              <a:endParaRPr lang="en-IN"/>
            </a:p>
          </p:txBody>
        </p:sp>
      </p:grpSp>
      <p:sp>
        <p:nvSpPr>
          <p:cNvPr id="10" name="TextBox 10"/>
          <p:cNvSpPr txBox="1"/>
          <p:nvPr/>
        </p:nvSpPr>
        <p:spPr>
          <a:xfrm>
            <a:off x="8454943" y="1064066"/>
            <a:ext cx="9603371" cy="8403590"/>
          </a:xfrm>
          <a:prstGeom prst="rect">
            <a:avLst/>
          </a:prstGeom>
        </p:spPr>
        <p:txBody>
          <a:bodyPr lIns="0" tIns="0" rIns="0" bIns="0" rtlCol="0" anchor="t">
            <a:spAutoFit/>
          </a:bodyPr>
          <a:lstStyle/>
          <a:p>
            <a:pPr algn="l">
              <a:lnSpc>
                <a:spcPts val="4067"/>
              </a:lnSpc>
            </a:pPr>
            <a:r>
              <a:rPr lang="en-US" sz="3599" b="1">
                <a:solidFill>
                  <a:srgbClr val="FFFFFF"/>
                </a:solidFill>
                <a:latin typeface="Calibri (MS) Bold"/>
                <a:ea typeface="Calibri (MS) Bold"/>
                <a:cs typeface="Calibri (MS) Bold"/>
                <a:sym typeface="Calibri (MS) Bold"/>
              </a:rPr>
              <a:t>Background</a:t>
            </a:r>
          </a:p>
          <a:p>
            <a:pPr algn="l">
              <a:lnSpc>
                <a:spcPts val="3841"/>
              </a:lnSpc>
            </a:pPr>
            <a:r>
              <a:rPr lang="en-US" sz="3399">
                <a:solidFill>
                  <a:srgbClr val="FFFFFF"/>
                </a:solidFill>
                <a:latin typeface="Calibri (MS)"/>
                <a:ea typeface="Calibri (MS)"/>
                <a:cs typeface="Calibri (MS)"/>
                <a:sym typeface="Calibri (MS)"/>
              </a:rPr>
              <a:t>The rapid growth of digital banking and online payment systems has increased the frequency and complexity of financial fraud. Fraudsters often operate through interconnected customers, merchants, devices, and accounts, making detection more challenging.</a:t>
            </a:r>
          </a:p>
          <a:p>
            <a:pPr algn="l">
              <a:lnSpc>
                <a:spcPts val="3841"/>
              </a:lnSpc>
            </a:pPr>
            <a:endParaRPr lang="en-US" sz="3399">
              <a:solidFill>
                <a:srgbClr val="FFFFFF"/>
              </a:solidFill>
              <a:latin typeface="Calibri (MS)"/>
              <a:ea typeface="Calibri (MS)"/>
              <a:cs typeface="Calibri (MS)"/>
              <a:sym typeface="Calibri (MS)"/>
            </a:endParaRPr>
          </a:p>
          <a:p>
            <a:pPr algn="l">
              <a:lnSpc>
                <a:spcPts val="4067"/>
              </a:lnSpc>
            </a:pPr>
            <a:r>
              <a:rPr lang="en-US" sz="3599" b="1">
                <a:solidFill>
                  <a:srgbClr val="FFFFFF"/>
                </a:solidFill>
                <a:latin typeface="Calibri (MS) Bold"/>
                <a:ea typeface="Calibri (MS) Bold"/>
                <a:cs typeface="Calibri (MS) Bold"/>
                <a:sym typeface="Calibri (MS) Bold"/>
              </a:rPr>
              <a:t>Challenges</a:t>
            </a:r>
          </a:p>
          <a:p>
            <a:pPr marL="734058" lvl="1" indent="-367029" algn="l">
              <a:lnSpc>
                <a:spcPts val="3841"/>
              </a:lnSpc>
              <a:buFont typeface="Arial"/>
              <a:buChar char="•"/>
            </a:pPr>
            <a:r>
              <a:rPr lang="en-US" sz="3399">
                <a:solidFill>
                  <a:srgbClr val="FFFFFF"/>
                </a:solidFill>
                <a:latin typeface="Calibri (MS)"/>
                <a:ea typeface="Calibri (MS)"/>
                <a:cs typeface="Calibri (MS)"/>
                <a:sym typeface="Calibri (MS)"/>
              </a:rPr>
              <a:t>Traditional models analyze transactions independently.</a:t>
            </a:r>
          </a:p>
          <a:p>
            <a:pPr marL="734058" lvl="1" indent="-367029" algn="l">
              <a:lnSpc>
                <a:spcPts val="3841"/>
              </a:lnSpc>
              <a:buFont typeface="Arial"/>
              <a:buChar char="•"/>
            </a:pPr>
            <a:r>
              <a:rPr lang="en-US" sz="3399">
                <a:solidFill>
                  <a:srgbClr val="FFFFFF"/>
                </a:solidFill>
                <a:latin typeface="Calibri (MS)"/>
                <a:ea typeface="Calibri (MS)"/>
                <a:cs typeface="Calibri (MS)"/>
                <a:sym typeface="Calibri (MS)"/>
              </a:rPr>
              <a:t>Hidden relationships among financial entities remain undetected.</a:t>
            </a:r>
          </a:p>
          <a:p>
            <a:pPr marL="734058" lvl="1" indent="-367029" algn="l">
              <a:lnSpc>
                <a:spcPts val="3841"/>
              </a:lnSpc>
              <a:buFont typeface="Arial"/>
              <a:buChar char="•"/>
            </a:pPr>
            <a:r>
              <a:rPr lang="en-US" sz="3399">
                <a:solidFill>
                  <a:srgbClr val="FFFFFF"/>
                </a:solidFill>
                <a:latin typeface="Calibri (MS)"/>
                <a:ea typeface="Calibri (MS)"/>
                <a:cs typeface="Calibri (MS)"/>
                <a:sym typeface="Calibri (MS)"/>
              </a:rPr>
              <a:t>Class imbalance affects model performance.</a:t>
            </a:r>
          </a:p>
          <a:p>
            <a:pPr marL="734058" lvl="1" indent="-367029" algn="l">
              <a:lnSpc>
                <a:spcPts val="3841"/>
              </a:lnSpc>
              <a:buFont typeface="Arial"/>
              <a:buChar char="•"/>
            </a:pPr>
            <a:r>
              <a:rPr lang="en-US" sz="3399">
                <a:solidFill>
                  <a:srgbClr val="FFFFFF"/>
                </a:solidFill>
                <a:latin typeface="Calibri (MS)"/>
                <a:ea typeface="Calibri (MS)"/>
                <a:cs typeface="Calibri (MS)"/>
                <a:sym typeface="Calibri (MS)"/>
              </a:rPr>
              <a:t>Existing AI models lack transparency for forensic investigations.</a:t>
            </a:r>
          </a:p>
          <a:p>
            <a:pPr algn="l">
              <a:lnSpc>
                <a:spcPts val="3841"/>
              </a:lnSpc>
            </a:pPr>
            <a:endParaRPr lang="en-US" sz="3399">
              <a:solidFill>
                <a:srgbClr val="FFFFFF"/>
              </a:solidFill>
              <a:latin typeface="Calibri (MS)"/>
              <a:ea typeface="Calibri (MS)"/>
              <a:cs typeface="Calibri (MS)"/>
              <a:sym typeface="Calibri (MS)"/>
            </a:endParaRPr>
          </a:p>
        </p:txBody>
      </p:sp>
      <p:sp>
        <p:nvSpPr>
          <p:cNvPr id="11" name="TextBox 11"/>
          <p:cNvSpPr txBox="1"/>
          <p:nvPr/>
        </p:nvSpPr>
        <p:spPr>
          <a:xfrm>
            <a:off x="759378" y="1763760"/>
            <a:ext cx="6666417" cy="4203954"/>
          </a:xfrm>
          <a:prstGeom prst="rect">
            <a:avLst/>
          </a:prstGeom>
        </p:spPr>
        <p:txBody>
          <a:bodyPr lIns="0" tIns="0" rIns="0" bIns="0" rtlCol="0" anchor="t">
            <a:spAutoFit/>
          </a:bodyPr>
          <a:lstStyle/>
          <a:p>
            <a:pPr algn="l">
              <a:lnSpc>
                <a:spcPts val="4067"/>
              </a:lnSpc>
            </a:pPr>
            <a:r>
              <a:rPr lang="en-US" sz="3599">
                <a:solidFill>
                  <a:srgbClr val="000000"/>
                </a:solidFill>
                <a:latin typeface="Calibri (MS)"/>
                <a:ea typeface="Calibri (MS)"/>
                <a:cs typeface="Calibri (MS)"/>
                <a:sym typeface="Calibri (MS)"/>
              </a:rPr>
              <a:t>Current fraud detection approaches are unable to effectively detect sophisticated and coordinated financial fraud due to limited relationship analysis, absence of statistical forensic validation, and poor interpretability of AI-based predictions.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FFFFF">
                <a:alpha val="100000"/>
              </a:srgbClr>
            </a:gs>
            <a:gs pos="100000">
              <a:srgbClr val="FA8DFF">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2237271" y="4342019"/>
            <a:ext cx="848452" cy="848452"/>
          </a:xfrm>
          <a:custGeom>
            <a:avLst/>
            <a:gdLst/>
            <a:ahLst/>
            <a:cxnLst/>
            <a:rect l="l" t="t" r="r" b="b"/>
            <a:pathLst>
              <a:path w="848452" h="848452">
                <a:moveTo>
                  <a:pt x="0" y="0"/>
                </a:moveTo>
                <a:lnTo>
                  <a:pt x="848452" y="0"/>
                </a:lnTo>
                <a:lnTo>
                  <a:pt x="848452" y="848453"/>
                </a:lnTo>
                <a:lnTo>
                  <a:pt x="0" y="848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3762977" y="4121490"/>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Phishing</a:t>
            </a:r>
          </a:p>
        </p:txBody>
      </p:sp>
      <p:sp>
        <p:nvSpPr>
          <p:cNvPr id="4" name="TextBox 4"/>
          <p:cNvSpPr txBox="1"/>
          <p:nvPr/>
        </p:nvSpPr>
        <p:spPr>
          <a:xfrm>
            <a:off x="3762977" y="5948865"/>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Malware</a:t>
            </a:r>
          </a:p>
        </p:txBody>
      </p:sp>
      <p:sp>
        <p:nvSpPr>
          <p:cNvPr id="5" name="TextBox 5"/>
          <p:cNvSpPr txBox="1"/>
          <p:nvPr/>
        </p:nvSpPr>
        <p:spPr>
          <a:xfrm>
            <a:off x="3762977" y="7775856"/>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Identity Theft</a:t>
            </a:r>
          </a:p>
        </p:txBody>
      </p:sp>
      <p:sp>
        <p:nvSpPr>
          <p:cNvPr id="6" name="TextBox 6"/>
          <p:cNvSpPr txBox="1"/>
          <p:nvPr/>
        </p:nvSpPr>
        <p:spPr>
          <a:xfrm>
            <a:off x="780140" y="962025"/>
            <a:ext cx="8641616" cy="85603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Calibri (MS) Bold"/>
                <a:ea typeface="Calibri (MS) Bold"/>
                <a:cs typeface="Calibri (MS) Bold"/>
                <a:sym typeface="Calibri (MS) Bold"/>
              </a:rPr>
              <a:t>Existing Work &amp; Research Gap</a:t>
            </a:r>
          </a:p>
        </p:txBody>
      </p:sp>
      <p:sp>
        <p:nvSpPr>
          <p:cNvPr id="7" name="TextBox 7"/>
          <p:cNvSpPr txBox="1"/>
          <p:nvPr/>
        </p:nvSpPr>
        <p:spPr>
          <a:xfrm>
            <a:off x="1028700" y="3870844"/>
            <a:ext cx="7761691" cy="6065520"/>
          </a:xfrm>
          <a:prstGeom prst="rect">
            <a:avLst/>
          </a:prstGeom>
        </p:spPr>
        <p:txBody>
          <a:bodyPr lIns="0" tIns="0" rIns="0" bIns="0" rtlCol="0" anchor="t">
            <a:spAutoFit/>
          </a:bodyPr>
          <a:lstStyle/>
          <a:p>
            <a:pPr algn="just">
              <a:lnSpc>
                <a:spcPts val="3390"/>
              </a:lnSpc>
            </a:pPr>
            <a:r>
              <a:rPr lang="en-US" sz="3000" b="1">
                <a:solidFill>
                  <a:srgbClr val="000000"/>
                </a:solidFill>
                <a:latin typeface="Calibri (MS) Bold"/>
                <a:ea typeface="Calibri (MS) Bold"/>
                <a:cs typeface="Calibri (MS) Bold"/>
                <a:sym typeface="Calibri (MS) Bold"/>
              </a:rPr>
              <a:t>Existing Work (Base Paper – IFDetector)</a:t>
            </a:r>
          </a:p>
          <a:p>
            <a:pPr algn="just">
              <a:lnSpc>
                <a:spcPts val="3390"/>
              </a:lnSpc>
            </a:pPr>
            <a:r>
              <a:rPr lang="en-US" sz="3000">
                <a:solidFill>
                  <a:srgbClr val="000000"/>
                </a:solidFill>
                <a:latin typeface="Calibri (MS)"/>
                <a:ea typeface="Calibri (MS)"/>
                <a:cs typeface="Calibri (MS)"/>
                <a:sym typeface="Calibri (MS)"/>
              </a:rPr>
              <a:t>The existing framework focuses on graph-based fraud detection by modeling relationships among financial entities.</a:t>
            </a:r>
          </a:p>
          <a:p>
            <a:pPr algn="just">
              <a:lnSpc>
                <a:spcPts val="3390"/>
              </a:lnSpc>
            </a:pPr>
            <a:r>
              <a:rPr lang="en-US" sz="3000">
                <a:solidFill>
                  <a:srgbClr val="000000"/>
                </a:solidFill>
                <a:latin typeface="Calibri (MS)"/>
                <a:ea typeface="Calibri (MS)"/>
                <a:cs typeface="Calibri (MS)"/>
                <a:sym typeface="Calibri (MS)"/>
              </a:rPr>
              <a:t>Key Features</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Graph Neural Network (GNN) for relational learning</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Adaptive graph sampling for large financial networks</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Contrastive learning to improve fraud representation</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Interpretable graph embeddings for fraud prediction</a:t>
            </a:r>
          </a:p>
          <a:p>
            <a:pPr algn="just">
              <a:lnSpc>
                <a:spcPts val="3390"/>
              </a:lnSpc>
              <a:spcBef>
                <a:spcPct val="0"/>
              </a:spcBef>
            </a:pPr>
            <a:endParaRPr lang="en-US" sz="3000">
              <a:solidFill>
                <a:srgbClr val="000000"/>
              </a:solidFill>
              <a:latin typeface="Calibri (MS)"/>
              <a:ea typeface="Calibri (MS)"/>
              <a:cs typeface="Calibri (MS)"/>
              <a:sym typeface="Calibri (MS)"/>
            </a:endParaRPr>
          </a:p>
        </p:txBody>
      </p:sp>
      <p:sp>
        <p:nvSpPr>
          <p:cNvPr id="8" name="TextBox 8"/>
          <p:cNvSpPr txBox="1"/>
          <p:nvPr/>
        </p:nvSpPr>
        <p:spPr>
          <a:xfrm>
            <a:off x="1028700" y="2274423"/>
            <a:ext cx="16230600" cy="1350645"/>
          </a:xfrm>
          <a:prstGeom prst="rect">
            <a:avLst/>
          </a:prstGeom>
        </p:spPr>
        <p:txBody>
          <a:bodyPr lIns="0" tIns="0" rIns="0" bIns="0" rtlCol="0" anchor="t">
            <a:spAutoFit/>
          </a:bodyPr>
          <a:lstStyle/>
          <a:p>
            <a:pPr algn="just">
              <a:lnSpc>
                <a:spcPts val="3390"/>
              </a:lnSpc>
            </a:pPr>
            <a:r>
              <a:rPr lang="en-US" sz="3000" b="1">
                <a:solidFill>
                  <a:srgbClr val="000000"/>
                </a:solidFill>
                <a:latin typeface="Calibri (MS) Bold"/>
                <a:ea typeface="Calibri (MS) Bold"/>
                <a:cs typeface="Calibri (MS) Bold"/>
                <a:sym typeface="Calibri (MS) Bold"/>
              </a:rPr>
              <a:t>Base Paper</a:t>
            </a:r>
          </a:p>
          <a:p>
            <a:pPr algn="just">
              <a:lnSpc>
                <a:spcPts val="3390"/>
              </a:lnSpc>
            </a:pPr>
            <a:r>
              <a:rPr lang="en-US" sz="3000">
                <a:solidFill>
                  <a:srgbClr val="000000"/>
                </a:solidFill>
                <a:latin typeface="Calibri (MS)"/>
                <a:ea typeface="Calibri (MS)"/>
                <a:cs typeface="Calibri (MS)"/>
                <a:sym typeface="Calibri (MS)"/>
              </a:rPr>
              <a:t>A Novel Graph Learning Framework for Interpretable and Imbalance Financial Fraud Detection</a:t>
            </a:r>
          </a:p>
          <a:p>
            <a:pPr algn="just">
              <a:lnSpc>
                <a:spcPts val="3390"/>
              </a:lnSpc>
              <a:spcBef>
                <a:spcPct val="0"/>
              </a:spcBef>
            </a:pPr>
            <a:r>
              <a:rPr lang="en-US" sz="3000">
                <a:solidFill>
                  <a:srgbClr val="000000"/>
                </a:solidFill>
                <a:latin typeface="Calibri (MS)"/>
                <a:ea typeface="Calibri (MS)"/>
                <a:cs typeface="Calibri (MS)"/>
                <a:sym typeface="Calibri (MS)"/>
              </a:rPr>
              <a:t>Engineering Applications of Artificial Intelligence (Elsevier, 2026)</a:t>
            </a:r>
          </a:p>
        </p:txBody>
      </p:sp>
      <p:sp>
        <p:nvSpPr>
          <p:cNvPr id="9" name="TextBox 9"/>
          <p:cNvSpPr txBox="1"/>
          <p:nvPr/>
        </p:nvSpPr>
        <p:spPr>
          <a:xfrm>
            <a:off x="9421756" y="3870844"/>
            <a:ext cx="7837544" cy="5636895"/>
          </a:xfrm>
          <a:prstGeom prst="rect">
            <a:avLst/>
          </a:prstGeom>
        </p:spPr>
        <p:txBody>
          <a:bodyPr lIns="0" tIns="0" rIns="0" bIns="0" rtlCol="0" anchor="t">
            <a:spAutoFit/>
          </a:bodyPr>
          <a:lstStyle/>
          <a:p>
            <a:pPr algn="just">
              <a:lnSpc>
                <a:spcPts val="3390"/>
              </a:lnSpc>
            </a:pPr>
            <a:r>
              <a:rPr lang="en-US" sz="3000" b="1">
                <a:solidFill>
                  <a:srgbClr val="000000"/>
                </a:solidFill>
                <a:latin typeface="Calibri (MS) Bold"/>
                <a:ea typeface="Calibri (MS) Bold"/>
                <a:cs typeface="Calibri (MS) Bold"/>
                <a:sym typeface="Calibri (MS) Bold"/>
              </a:rPr>
              <a:t>Research Gap</a:t>
            </a:r>
          </a:p>
          <a:p>
            <a:pPr algn="just">
              <a:lnSpc>
                <a:spcPts val="3390"/>
              </a:lnSpc>
            </a:pPr>
            <a:r>
              <a:rPr lang="en-US" sz="3000">
                <a:solidFill>
                  <a:srgbClr val="000000"/>
                </a:solidFill>
                <a:latin typeface="Calibri (MS)"/>
                <a:ea typeface="Calibri (MS)"/>
                <a:cs typeface="Calibri (MS)"/>
                <a:sym typeface="Calibri (MS)"/>
              </a:rPr>
              <a:t>Despite its effectiveness, the framework has several limitations:</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Does not analyze numerical anomalies in transaction values.</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Benford's Law is not incorporated for forensic validation.</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Fraud decisions rely only on graph learning.</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No unified fraud risk score combining statistical and graph evidence.</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Limited support for investigator-oriented fraud analysis.</a:t>
            </a:r>
          </a:p>
          <a:p>
            <a:pPr algn="just">
              <a:lnSpc>
                <a:spcPts val="3390"/>
              </a:lnSpc>
              <a:spcBef>
                <a:spcPct val="0"/>
              </a:spcBef>
            </a:pPr>
            <a:endParaRPr lang="en-US" sz="3000">
              <a:solidFill>
                <a:srgbClr val="000000"/>
              </a:solidFill>
              <a:latin typeface="Calibri (MS)"/>
              <a:ea typeface="Calibri (MS)"/>
              <a:cs typeface="Calibri (MS)"/>
              <a:sym typeface="Calibri (MS)"/>
            </a:endParaRPr>
          </a:p>
        </p:txBody>
      </p:sp>
      <p:grpSp>
        <p:nvGrpSpPr>
          <p:cNvPr id="10" name="Group 10"/>
          <p:cNvGrpSpPr/>
          <p:nvPr/>
        </p:nvGrpSpPr>
        <p:grpSpPr>
          <a:xfrm rot="-2464847">
            <a:off x="15665673" y="890784"/>
            <a:ext cx="3623585" cy="263623"/>
            <a:chOff x="0" y="0"/>
            <a:chExt cx="952142" cy="69270"/>
          </a:xfrm>
        </p:grpSpPr>
        <p:sp>
          <p:nvSpPr>
            <p:cNvPr id="11" name="Freeform 11"/>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12" name="TextBox 12"/>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grpSp>
        <p:nvGrpSpPr>
          <p:cNvPr id="13" name="Group 13"/>
          <p:cNvGrpSpPr/>
          <p:nvPr/>
        </p:nvGrpSpPr>
        <p:grpSpPr>
          <a:xfrm rot="-2464847">
            <a:off x="13248808" y="-4132458"/>
            <a:ext cx="3623585" cy="5666218"/>
            <a:chOff x="0" y="0"/>
            <a:chExt cx="952142" cy="1488869"/>
          </a:xfrm>
        </p:grpSpPr>
        <p:sp>
          <p:nvSpPr>
            <p:cNvPr id="14" name="Freeform 14"/>
            <p:cNvSpPr/>
            <p:nvPr/>
          </p:nvSpPr>
          <p:spPr>
            <a:xfrm>
              <a:off x="0" y="0"/>
              <a:ext cx="952142" cy="1488869"/>
            </a:xfrm>
            <a:custGeom>
              <a:avLst/>
              <a:gdLst/>
              <a:ahLst/>
              <a:cxnLst/>
              <a:rect l="l" t="t" r="r" b="b"/>
              <a:pathLst>
                <a:path w="952142" h="1488869">
                  <a:moveTo>
                    <a:pt x="76915" y="0"/>
                  </a:moveTo>
                  <a:lnTo>
                    <a:pt x="875227" y="0"/>
                  </a:lnTo>
                  <a:cubicBezTo>
                    <a:pt x="895626" y="0"/>
                    <a:pt x="915189" y="8104"/>
                    <a:pt x="929614" y="22528"/>
                  </a:cubicBezTo>
                  <a:cubicBezTo>
                    <a:pt x="944038" y="36952"/>
                    <a:pt x="952142" y="56516"/>
                    <a:pt x="952142" y="76915"/>
                  </a:cubicBezTo>
                  <a:lnTo>
                    <a:pt x="952142" y="1411954"/>
                  </a:lnTo>
                  <a:cubicBezTo>
                    <a:pt x="952142" y="1432353"/>
                    <a:pt x="944038" y="1451917"/>
                    <a:pt x="929614" y="1466341"/>
                  </a:cubicBezTo>
                  <a:cubicBezTo>
                    <a:pt x="915189" y="1480766"/>
                    <a:pt x="895626" y="1488869"/>
                    <a:pt x="875227" y="1488869"/>
                  </a:cubicBezTo>
                  <a:lnTo>
                    <a:pt x="76915" y="1488869"/>
                  </a:lnTo>
                  <a:cubicBezTo>
                    <a:pt x="34436" y="1488869"/>
                    <a:pt x="0" y="1454433"/>
                    <a:pt x="0" y="1411954"/>
                  </a:cubicBezTo>
                  <a:lnTo>
                    <a:pt x="0" y="76915"/>
                  </a:lnTo>
                  <a:cubicBezTo>
                    <a:pt x="0" y="34436"/>
                    <a:pt x="34436" y="0"/>
                    <a:pt x="7691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15" name="TextBox 15"/>
            <p:cNvSpPr txBox="1"/>
            <p:nvPr/>
          </p:nvSpPr>
          <p:spPr>
            <a:xfrm>
              <a:off x="0" y="-57150"/>
              <a:ext cx="952142" cy="1546019"/>
            </a:xfrm>
            <a:prstGeom prst="rect">
              <a:avLst/>
            </a:prstGeom>
          </p:spPr>
          <p:txBody>
            <a:bodyPr lIns="50800" tIns="50800" rIns="50800" bIns="50800" rtlCol="0" anchor="ctr"/>
            <a:lstStyle/>
            <a:p>
              <a:pPr algn="ctr">
                <a:lnSpc>
                  <a:spcPts val="3447"/>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FFFFF">
                <a:alpha val="100000"/>
              </a:srgbClr>
            </a:gs>
            <a:gs pos="100000">
              <a:srgbClr val="FA8DFF">
                <a:alpha val="100000"/>
              </a:srgbClr>
            </a:gs>
          </a:gsLst>
          <a:lin ang="270000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70969" y="2169340"/>
          <a:ext cx="15053615" cy="6781800"/>
        </p:xfrm>
        <a:graphic>
          <a:graphicData uri="http://schemas.openxmlformats.org/drawingml/2006/table">
            <a:tbl>
              <a:tblPr/>
              <a:tblGrid>
                <a:gridCol w="6653519">
                  <a:extLst>
                    <a:ext uri="{9D8B030D-6E8A-4147-A177-3AD203B41FA5}">
                      <a16:colId xmlns:a16="http://schemas.microsoft.com/office/drawing/2014/main" val="20000"/>
                    </a:ext>
                  </a:extLst>
                </a:gridCol>
                <a:gridCol w="8400096">
                  <a:extLst>
                    <a:ext uri="{9D8B030D-6E8A-4147-A177-3AD203B41FA5}">
                      <a16:colId xmlns:a16="http://schemas.microsoft.com/office/drawing/2014/main" val="20001"/>
                    </a:ext>
                  </a:extLst>
                </a:gridCol>
              </a:tblGrid>
              <a:tr h="1130300">
                <a:tc>
                  <a:txBody>
                    <a:bodyPr/>
                    <a:lstStyle/>
                    <a:p>
                      <a:pPr algn="ctr">
                        <a:lnSpc>
                          <a:spcPts val="4899"/>
                        </a:lnSpc>
                        <a:defRPr/>
                      </a:pPr>
                      <a:r>
                        <a:rPr lang="en-US" sz="3499" b="1">
                          <a:solidFill>
                            <a:srgbClr val="000000"/>
                          </a:solidFill>
                          <a:latin typeface="Calibri (MS) Bold"/>
                          <a:ea typeface="Calibri (MS) Bold"/>
                          <a:cs typeface="Calibri (MS) Bold"/>
                          <a:sym typeface="Calibri (MS) Bold"/>
                        </a:rPr>
                        <a:t>Existing 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899"/>
                        </a:lnSpc>
                        <a:defRPr/>
                      </a:pPr>
                      <a:r>
                        <a:rPr lang="en-US" sz="3499" b="1">
                          <a:solidFill>
                            <a:srgbClr val="000000"/>
                          </a:solidFill>
                          <a:latin typeface="Calibri (MS) Bold"/>
                          <a:ea typeface="Calibri (MS) Bold"/>
                          <a:cs typeface="Calibri (MS) Bold"/>
                          <a:sym typeface="Calibri (MS) Bold"/>
                        </a:rPr>
                        <a:t>Limitation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30300">
                <a:tc>
                  <a:txBody>
                    <a:bodyPr/>
                    <a:lstStyle/>
                    <a:p>
                      <a:pPr algn="ctr">
                        <a:lnSpc>
                          <a:spcPts val="4899"/>
                        </a:lnSpc>
                        <a:defRPr/>
                      </a:pPr>
                      <a:r>
                        <a:rPr lang="en-US" sz="3499">
                          <a:solidFill>
                            <a:srgbClr val="000000"/>
                          </a:solidFill>
                          <a:latin typeface="Calibri (MS)"/>
                          <a:ea typeface="Calibri (MS)"/>
                          <a:cs typeface="Calibri (MS)"/>
                          <a:sym typeface="Calibri (MS)"/>
                        </a:rPr>
                        <a:t>Rule-Based Systems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899"/>
                        </a:lnSpc>
                        <a:defRPr/>
                      </a:pPr>
                      <a:r>
                        <a:rPr lang="en-US" sz="3499">
                          <a:solidFill>
                            <a:srgbClr val="000000"/>
                          </a:solidFill>
                          <a:latin typeface="Calibri (MS)"/>
                          <a:ea typeface="Calibri (MS)"/>
                          <a:cs typeface="Calibri (MS)"/>
                          <a:sym typeface="Calibri (MS)"/>
                        </a:rPr>
                        <a:t>Detect only known fraud rules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0300">
                <a:tc>
                  <a:txBody>
                    <a:bodyPr/>
                    <a:lstStyle/>
                    <a:p>
                      <a:pPr algn="ctr">
                        <a:lnSpc>
                          <a:spcPts val="4899"/>
                        </a:lnSpc>
                        <a:defRPr/>
                      </a:pPr>
                      <a:r>
                        <a:rPr lang="en-US" sz="3499">
                          <a:solidFill>
                            <a:srgbClr val="000000"/>
                          </a:solidFill>
                          <a:latin typeface="Calibri (MS)"/>
                          <a:ea typeface="Calibri (MS)"/>
                          <a:cs typeface="Calibri (MS)"/>
                          <a:sym typeface="Calibri (MS)"/>
                        </a:rPr>
                        <a:t>Machine Learning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899"/>
                        </a:lnSpc>
                        <a:defRPr/>
                      </a:pPr>
                      <a:r>
                        <a:rPr lang="en-US" sz="3499">
                          <a:solidFill>
                            <a:srgbClr val="000000"/>
                          </a:solidFill>
                          <a:latin typeface="Calibri (MS)"/>
                          <a:ea typeface="Calibri (MS)"/>
                          <a:cs typeface="Calibri (MS)"/>
                          <a:sym typeface="Calibri (MS)"/>
                        </a:rPr>
                        <a:t>Treats transactions independently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30300">
                <a:tc>
                  <a:txBody>
                    <a:bodyPr/>
                    <a:lstStyle/>
                    <a:p>
                      <a:pPr algn="ctr">
                        <a:lnSpc>
                          <a:spcPts val="4899"/>
                        </a:lnSpc>
                        <a:defRPr/>
                      </a:pPr>
                      <a:r>
                        <a:rPr lang="en-US" sz="3499">
                          <a:solidFill>
                            <a:srgbClr val="000000"/>
                          </a:solidFill>
                          <a:latin typeface="Calibri (MS)"/>
                          <a:ea typeface="Calibri (MS)"/>
                          <a:cs typeface="Calibri (MS)"/>
                          <a:sym typeface="Calibri (MS)"/>
                        </a:rPr>
                        <a:t>Benford's Law</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899"/>
                        </a:lnSpc>
                        <a:defRPr/>
                      </a:pPr>
                      <a:r>
                        <a:rPr lang="en-US" sz="3499">
                          <a:solidFill>
                            <a:srgbClr val="000000"/>
                          </a:solidFill>
                          <a:latin typeface="Calibri (MS)"/>
                          <a:ea typeface="Calibri (MS)"/>
                          <a:cs typeface="Calibri (MS)"/>
                          <a:sym typeface="Calibri (MS)"/>
                        </a:rPr>
                        <a:t>Used separately from AI 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30300">
                <a:tc>
                  <a:txBody>
                    <a:bodyPr/>
                    <a:lstStyle/>
                    <a:p>
                      <a:pPr algn="ctr">
                        <a:lnSpc>
                          <a:spcPts val="4899"/>
                        </a:lnSpc>
                        <a:defRPr/>
                      </a:pPr>
                      <a:r>
                        <a:rPr lang="en-US" sz="3499">
                          <a:solidFill>
                            <a:srgbClr val="000000"/>
                          </a:solidFill>
                          <a:latin typeface="Calibri (MS)"/>
                          <a:ea typeface="Calibri (MS)"/>
                          <a:cs typeface="Calibri (MS)"/>
                          <a:sym typeface="Calibri (MS)"/>
                        </a:rPr>
                        <a:t>Graph Neural Networks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899"/>
                        </a:lnSpc>
                        <a:defRPr/>
                      </a:pPr>
                      <a:r>
                        <a:rPr lang="en-US" sz="3499">
                          <a:solidFill>
                            <a:srgbClr val="000000"/>
                          </a:solidFill>
                          <a:latin typeface="Calibri (MS)"/>
                          <a:ea typeface="Calibri (MS)"/>
                          <a:cs typeface="Calibri (MS)"/>
                          <a:sym typeface="Calibri (MS)"/>
                        </a:rPr>
                        <a:t>Lack explainability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30300">
                <a:tc>
                  <a:txBody>
                    <a:bodyPr/>
                    <a:lstStyle/>
                    <a:p>
                      <a:pPr algn="ctr">
                        <a:lnSpc>
                          <a:spcPts val="4899"/>
                        </a:lnSpc>
                        <a:defRPr/>
                      </a:pPr>
                      <a:r>
                        <a:rPr lang="en-US" sz="3499">
                          <a:solidFill>
                            <a:srgbClr val="000000"/>
                          </a:solidFill>
                          <a:latin typeface="Calibri (MS)"/>
                          <a:ea typeface="Calibri (MS)"/>
                          <a:cs typeface="Calibri (MS)"/>
                          <a:sym typeface="Calibri (MS)"/>
                        </a:rPr>
                        <a:t>Explainable AI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899"/>
                        </a:lnSpc>
                        <a:defRPr/>
                      </a:pPr>
                      <a:r>
                        <a:rPr lang="en-US" sz="3499">
                          <a:solidFill>
                            <a:srgbClr val="000000"/>
                          </a:solidFill>
                          <a:latin typeface="Calibri (MS)"/>
                          <a:ea typeface="Calibri (MS)"/>
                          <a:cs typeface="Calibri (MS)"/>
                          <a:sym typeface="Calibri (MS)"/>
                        </a:rPr>
                        <a:t>Explains features but not fraud networks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Box 3"/>
          <p:cNvSpPr txBox="1"/>
          <p:nvPr/>
        </p:nvSpPr>
        <p:spPr>
          <a:xfrm>
            <a:off x="613342" y="662597"/>
            <a:ext cx="4084558" cy="76078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HK Grotesk Bold"/>
                <a:ea typeface="HK Grotesk Bold"/>
                <a:cs typeface="HK Grotesk Bold"/>
                <a:sym typeface="HK Grotesk Bold"/>
              </a:rPr>
              <a:t>Research Gap</a:t>
            </a:r>
          </a:p>
        </p:txBody>
      </p:sp>
      <p:grpSp>
        <p:nvGrpSpPr>
          <p:cNvPr id="4" name="Group 4"/>
          <p:cNvGrpSpPr/>
          <p:nvPr/>
        </p:nvGrpSpPr>
        <p:grpSpPr>
          <a:xfrm rot="-2464847">
            <a:off x="15923301" y="251767"/>
            <a:ext cx="3623585" cy="263623"/>
            <a:chOff x="0" y="0"/>
            <a:chExt cx="952142" cy="69270"/>
          </a:xfrm>
        </p:grpSpPr>
        <p:sp>
          <p:nvSpPr>
            <p:cNvPr id="5" name="Freeform 5"/>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6" name="TextBox 6"/>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grpSp>
        <p:nvGrpSpPr>
          <p:cNvPr id="7" name="Group 7"/>
          <p:cNvGrpSpPr/>
          <p:nvPr/>
        </p:nvGrpSpPr>
        <p:grpSpPr>
          <a:xfrm rot="-2464847">
            <a:off x="15923301" y="1291566"/>
            <a:ext cx="3623585" cy="263623"/>
            <a:chOff x="0" y="0"/>
            <a:chExt cx="952142" cy="69270"/>
          </a:xfrm>
        </p:grpSpPr>
        <p:sp>
          <p:nvSpPr>
            <p:cNvPr id="8" name="Freeform 8"/>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100000"/>
                  </a:srgbClr>
                </a:gs>
                <a:gs pos="100000">
                  <a:srgbClr val="701B74">
                    <a:alpha val="100000"/>
                  </a:srgbClr>
                </a:gs>
              </a:gsLst>
              <a:path path="circle">
                <a:fillToRect r="100000" b="100000"/>
              </a:path>
              <a:tileRect l="-100000" t="-100000"/>
            </a:gradFill>
          </p:spPr>
          <p:txBody>
            <a:bodyPr/>
            <a:lstStyle/>
            <a:p>
              <a:endParaRPr lang="en-IN"/>
            </a:p>
          </p:txBody>
        </p:sp>
        <p:sp>
          <p:nvSpPr>
            <p:cNvPr id="9" name="TextBox 9"/>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FFFFF">
                <a:alpha val="100000"/>
              </a:srgbClr>
            </a:gs>
            <a:gs pos="100000">
              <a:srgbClr val="FA8D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057275"/>
            <a:ext cx="2480141" cy="76078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HK Grotesk Bold"/>
                <a:ea typeface="HK Grotesk Bold"/>
                <a:cs typeface="HK Grotesk Bold"/>
                <a:sym typeface="HK Grotesk Bold"/>
              </a:rPr>
              <a:t>Novelty </a:t>
            </a:r>
          </a:p>
        </p:txBody>
      </p:sp>
      <p:grpSp>
        <p:nvGrpSpPr>
          <p:cNvPr id="3" name="Group 3"/>
          <p:cNvGrpSpPr/>
          <p:nvPr/>
        </p:nvGrpSpPr>
        <p:grpSpPr>
          <a:xfrm>
            <a:off x="-12290" y="-1"/>
            <a:ext cx="19437596" cy="10287000"/>
            <a:chOff x="0" y="0"/>
            <a:chExt cx="5119367" cy="2709333"/>
          </a:xfrm>
        </p:grpSpPr>
        <p:sp>
          <p:nvSpPr>
            <p:cNvPr id="4" name="Freeform 4"/>
            <p:cNvSpPr/>
            <p:nvPr/>
          </p:nvSpPr>
          <p:spPr>
            <a:xfrm>
              <a:off x="0" y="0"/>
              <a:ext cx="5119367" cy="2709333"/>
            </a:xfrm>
            <a:custGeom>
              <a:avLst/>
              <a:gdLst/>
              <a:ahLst/>
              <a:cxnLst/>
              <a:rect l="l" t="t" r="r" b="b"/>
              <a:pathLst>
                <a:path w="5119367" h="2709333">
                  <a:moveTo>
                    <a:pt x="22703" y="0"/>
                  </a:moveTo>
                  <a:lnTo>
                    <a:pt x="5096664" y="0"/>
                  </a:lnTo>
                  <a:cubicBezTo>
                    <a:pt x="5109202" y="0"/>
                    <a:pt x="5119367" y="10164"/>
                    <a:pt x="5119367" y="22703"/>
                  </a:cubicBezTo>
                  <a:lnTo>
                    <a:pt x="5119367" y="2686630"/>
                  </a:lnTo>
                  <a:cubicBezTo>
                    <a:pt x="5119367" y="2699169"/>
                    <a:pt x="5109202" y="2709333"/>
                    <a:pt x="5096664" y="2709333"/>
                  </a:cubicBezTo>
                  <a:lnTo>
                    <a:pt x="22703" y="2709333"/>
                  </a:lnTo>
                  <a:cubicBezTo>
                    <a:pt x="10164" y="2709333"/>
                    <a:pt x="0" y="2699169"/>
                    <a:pt x="0" y="2686630"/>
                  </a:cubicBezTo>
                  <a:lnTo>
                    <a:pt x="0" y="22703"/>
                  </a:lnTo>
                  <a:cubicBezTo>
                    <a:pt x="0" y="10164"/>
                    <a:pt x="10164" y="0"/>
                    <a:pt x="22703" y="0"/>
                  </a:cubicBezTo>
                  <a:close/>
                </a:path>
              </a:pathLst>
            </a:custGeom>
            <a:gradFill rotWithShape="1">
              <a:gsLst>
                <a:gs pos="0">
                  <a:srgbClr val="000000">
                    <a:alpha val="72000"/>
                  </a:srgbClr>
                </a:gs>
                <a:gs pos="50000">
                  <a:srgbClr val="32032F">
                    <a:alpha val="72000"/>
                  </a:srgbClr>
                </a:gs>
                <a:gs pos="100000">
                  <a:srgbClr val="701B74">
                    <a:alpha val="72000"/>
                  </a:srgbClr>
                </a:gs>
              </a:gsLst>
              <a:lin ang="0"/>
            </a:gradFill>
            <a:ln cap="rnd">
              <a:noFill/>
              <a:prstDash val="solid"/>
              <a:round/>
            </a:ln>
          </p:spPr>
          <p:txBody>
            <a:bodyPr/>
            <a:lstStyle/>
            <a:p>
              <a:endParaRPr lang="en-IN"/>
            </a:p>
          </p:txBody>
        </p:sp>
        <p:sp>
          <p:nvSpPr>
            <p:cNvPr id="5" name="TextBox 5"/>
            <p:cNvSpPr txBox="1"/>
            <p:nvPr/>
          </p:nvSpPr>
          <p:spPr>
            <a:xfrm>
              <a:off x="0" y="-57150"/>
              <a:ext cx="5119367" cy="2766483"/>
            </a:xfrm>
            <a:prstGeom prst="rect">
              <a:avLst/>
            </a:prstGeom>
          </p:spPr>
          <p:txBody>
            <a:bodyPr lIns="50800" tIns="50800" rIns="50800" bIns="50800" rtlCol="0" anchor="ctr"/>
            <a:lstStyle/>
            <a:p>
              <a:pPr marL="0" lvl="0" indent="0" algn="ctr">
                <a:lnSpc>
                  <a:spcPts val="3447"/>
                </a:lnSpc>
                <a:spcBef>
                  <a:spcPct val="0"/>
                </a:spcBef>
              </a:pPr>
              <a:endParaRPr/>
            </a:p>
          </p:txBody>
        </p:sp>
      </p:grpSp>
      <p:sp>
        <p:nvSpPr>
          <p:cNvPr id="6" name="TextBox 6"/>
          <p:cNvSpPr txBox="1"/>
          <p:nvPr/>
        </p:nvSpPr>
        <p:spPr>
          <a:xfrm>
            <a:off x="1028700" y="4096385"/>
            <a:ext cx="14498030" cy="2491836"/>
          </a:xfrm>
          <a:prstGeom prst="rect">
            <a:avLst/>
          </a:prstGeom>
        </p:spPr>
        <p:txBody>
          <a:bodyPr lIns="0" tIns="0" rIns="0" bIns="0" rtlCol="0" anchor="t">
            <a:spAutoFit/>
          </a:bodyPr>
          <a:lstStyle/>
          <a:p>
            <a:pPr marL="863599" lvl="1" indent="-431800" algn="l">
              <a:lnSpc>
                <a:spcPts val="4879"/>
              </a:lnSpc>
              <a:buAutoNum type="arabicPeriod"/>
            </a:pPr>
            <a:r>
              <a:rPr lang="en-US" sz="3999" dirty="0">
                <a:solidFill>
                  <a:srgbClr val="FFFFFF"/>
                </a:solidFill>
                <a:latin typeface="Calibri (MS)"/>
                <a:ea typeface="Calibri (MS)"/>
                <a:cs typeface="Calibri (MS)"/>
                <a:sym typeface="Calibri (MS)"/>
              </a:rPr>
              <a:t>Hybrid Integration of Three Complementary Techniques</a:t>
            </a:r>
          </a:p>
          <a:p>
            <a:pPr marL="863599" lvl="1" indent="-431800" algn="l">
              <a:lnSpc>
                <a:spcPts val="4879"/>
              </a:lnSpc>
              <a:buAutoNum type="arabicPeriod"/>
            </a:pPr>
            <a:r>
              <a:rPr lang="en-US" sz="3999" dirty="0">
                <a:solidFill>
                  <a:srgbClr val="FFFFFF"/>
                </a:solidFill>
                <a:latin typeface="Calibri (MS)"/>
                <a:ea typeface="Calibri (MS)"/>
                <a:cs typeface="Calibri (MS)"/>
                <a:sym typeface="Calibri (MS)"/>
              </a:rPr>
              <a:t>Benford's Law as a Learnable Feature</a:t>
            </a:r>
          </a:p>
          <a:p>
            <a:pPr marL="863599" lvl="1" indent="-431800" algn="l">
              <a:lnSpc>
                <a:spcPts val="4879"/>
              </a:lnSpc>
              <a:buAutoNum type="arabicPeriod"/>
            </a:pPr>
            <a:r>
              <a:rPr lang="en-US" sz="3999" dirty="0">
                <a:solidFill>
                  <a:srgbClr val="FFFFFF"/>
                </a:solidFill>
                <a:latin typeface="Calibri (MS)"/>
                <a:ea typeface="Calibri (MS)"/>
                <a:cs typeface="Calibri (MS)"/>
                <a:sym typeface="Calibri (MS)"/>
              </a:rPr>
              <a:t>Graph-Based Detection of Fraud Rings</a:t>
            </a:r>
          </a:p>
          <a:p>
            <a:pPr marL="863599" lvl="1" indent="-431800" algn="l">
              <a:lnSpc>
                <a:spcPts val="4879"/>
              </a:lnSpc>
              <a:buAutoNum type="arabicPeriod"/>
            </a:pPr>
            <a:r>
              <a:rPr lang="en-US" sz="3999" dirty="0">
                <a:solidFill>
                  <a:srgbClr val="FFFFFF"/>
                </a:solidFill>
                <a:latin typeface="Calibri (MS)"/>
                <a:ea typeface="Calibri (MS)"/>
                <a:cs typeface="Calibri (MS)"/>
                <a:sym typeface="Calibri (MS)"/>
              </a:rPr>
              <a:t> Dual Explainability</a:t>
            </a:r>
          </a:p>
        </p:txBody>
      </p:sp>
      <p:grpSp>
        <p:nvGrpSpPr>
          <p:cNvPr id="10" name="Group 10"/>
          <p:cNvGrpSpPr/>
          <p:nvPr/>
        </p:nvGrpSpPr>
        <p:grpSpPr>
          <a:xfrm rot="-2464847">
            <a:off x="15627847" y="1158115"/>
            <a:ext cx="3623585" cy="263623"/>
            <a:chOff x="0" y="0"/>
            <a:chExt cx="952142" cy="69270"/>
          </a:xfrm>
        </p:grpSpPr>
        <p:sp>
          <p:nvSpPr>
            <p:cNvPr id="11" name="Freeform 11"/>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54000"/>
                  </a:srgbClr>
                </a:gs>
                <a:gs pos="100000">
                  <a:srgbClr val="701B74">
                    <a:alpha val="54000"/>
                  </a:srgbClr>
                </a:gs>
              </a:gsLst>
              <a:path path="circle">
                <a:fillToRect r="100000" b="100000"/>
              </a:path>
              <a:tileRect l="-100000" t="-100000"/>
            </a:gradFill>
          </p:spPr>
          <p:txBody>
            <a:bodyPr/>
            <a:lstStyle/>
            <a:p>
              <a:endParaRPr lang="en-IN"/>
            </a:p>
          </p:txBody>
        </p:sp>
        <p:sp>
          <p:nvSpPr>
            <p:cNvPr id="12" name="TextBox 12"/>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grpSp>
        <p:nvGrpSpPr>
          <p:cNvPr id="13" name="Group 13"/>
          <p:cNvGrpSpPr/>
          <p:nvPr/>
        </p:nvGrpSpPr>
        <p:grpSpPr>
          <a:xfrm rot="-2464847">
            <a:off x="15627847" y="2029395"/>
            <a:ext cx="3623585" cy="263623"/>
            <a:chOff x="0" y="0"/>
            <a:chExt cx="952142" cy="69270"/>
          </a:xfrm>
        </p:grpSpPr>
        <p:sp>
          <p:nvSpPr>
            <p:cNvPr id="14" name="Freeform 14"/>
            <p:cNvSpPr/>
            <p:nvPr/>
          </p:nvSpPr>
          <p:spPr>
            <a:xfrm>
              <a:off x="0" y="0"/>
              <a:ext cx="952142" cy="69270"/>
            </a:xfrm>
            <a:custGeom>
              <a:avLst/>
              <a:gdLst/>
              <a:ahLst/>
              <a:cxnLst/>
              <a:rect l="l" t="t" r="r" b="b"/>
              <a:pathLst>
                <a:path w="952142" h="69270">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1">
              <a:gsLst>
                <a:gs pos="0">
                  <a:srgbClr val="000000">
                    <a:alpha val="54000"/>
                  </a:srgbClr>
                </a:gs>
                <a:gs pos="100000">
                  <a:srgbClr val="701B74">
                    <a:alpha val="54000"/>
                  </a:srgbClr>
                </a:gs>
              </a:gsLst>
              <a:path path="circle">
                <a:fillToRect r="100000" b="100000"/>
              </a:path>
              <a:tileRect l="-100000" t="-100000"/>
            </a:gradFill>
          </p:spPr>
          <p:txBody>
            <a:bodyPr/>
            <a:lstStyle/>
            <a:p>
              <a:endParaRPr lang="en-IN"/>
            </a:p>
          </p:txBody>
        </p:sp>
        <p:sp>
          <p:nvSpPr>
            <p:cNvPr id="15" name="TextBox 15"/>
            <p:cNvSpPr txBox="1"/>
            <p:nvPr/>
          </p:nvSpPr>
          <p:spPr>
            <a:xfrm>
              <a:off x="0" y="-57150"/>
              <a:ext cx="952142" cy="126420"/>
            </a:xfrm>
            <a:prstGeom prst="rect">
              <a:avLst/>
            </a:prstGeom>
          </p:spPr>
          <p:txBody>
            <a:bodyPr lIns="50800" tIns="50800" rIns="50800" bIns="50800" rtlCol="0" anchor="ctr"/>
            <a:lstStyle/>
            <a:p>
              <a:pPr algn="ctr">
                <a:lnSpc>
                  <a:spcPts val="3447"/>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3B0F2">
                <a:alpha val="100000"/>
              </a:srgbClr>
            </a:gs>
            <a:gs pos="100000">
              <a:srgbClr val="FDF5B9">
                <a:alpha val="100000"/>
              </a:srgbClr>
            </a:gs>
          </a:gsLst>
          <a:lin ang="0"/>
        </a:gradFill>
        <a:effectLst/>
      </p:bgPr>
    </p:bg>
    <p:spTree>
      <p:nvGrpSpPr>
        <p:cNvPr id="1" name=""/>
        <p:cNvGrpSpPr/>
        <p:nvPr/>
      </p:nvGrpSpPr>
      <p:grpSpPr>
        <a:xfrm>
          <a:off x="0" y="0"/>
          <a:ext cx="0" cy="0"/>
          <a:chOff x="0" y="0"/>
          <a:chExt cx="0" cy="0"/>
        </a:xfrm>
      </p:grpSpPr>
      <p:sp>
        <p:nvSpPr>
          <p:cNvPr id="4" name="TextBox 4"/>
          <p:cNvSpPr txBox="1"/>
          <p:nvPr/>
        </p:nvSpPr>
        <p:spPr>
          <a:xfrm>
            <a:off x="1028700" y="962025"/>
            <a:ext cx="6438198" cy="85603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Calibri (MS) Bold"/>
                <a:ea typeface="Calibri (MS) Bold"/>
                <a:cs typeface="Calibri (MS) Bold"/>
                <a:sym typeface="Calibri (MS) Bold"/>
              </a:rPr>
              <a:t>Proposed Framework</a:t>
            </a:r>
          </a:p>
        </p:txBody>
      </p:sp>
      <p:pic>
        <p:nvPicPr>
          <p:cNvPr id="5" name="Picture 4">
            <a:extLst>
              <a:ext uri="{FF2B5EF4-FFF2-40B4-BE49-F238E27FC236}">
                <a16:creationId xmlns:a16="http://schemas.microsoft.com/office/drawing/2014/main" id="{6764A055-FAD6-4198-76CA-5479DAE0CC30}"/>
              </a:ext>
            </a:extLst>
          </p:cNvPr>
          <p:cNvPicPr>
            <a:picLocks noChangeAspect="1"/>
          </p:cNvPicPr>
          <p:nvPr/>
        </p:nvPicPr>
        <p:blipFill>
          <a:blip r:embed="rId2"/>
          <a:stretch>
            <a:fillRect/>
          </a:stretch>
        </p:blipFill>
        <p:spPr>
          <a:xfrm>
            <a:off x="1004637" y="2273413"/>
            <a:ext cx="15786905" cy="70174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FFFFF">
                <a:alpha val="100000"/>
              </a:srgbClr>
            </a:gs>
            <a:gs pos="100000">
              <a:srgbClr val="FA8DFF">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2237271" y="4342019"/>
            <a:ext cx="848452" cy="848452"/>
          </a:xfrm>
          <a:custGeom>
            <a:avLst/>
            <a:gdLst/>
            <a:ahLst/>
            <a:cxnLst/>
            <a:rect l="l" t="t" r="r" b="b"/>
            <a:pathLst>
              <a:path w="848452" h="848452">
                <a:moveTo>
                  <a:pt x="0" y="0"/>
                </a:moveTo>
                <a:lnTo>
                  <a:pt x="848452" y="0"/>
                </a:lnTo>
                <a:lnTo>
                  <a:pt x="848452" y="848453"/>
                </a:lnTo>
                <a:lnTo>
                  <a:pt x="0" y="848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3762977" y="4121490"/>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Phishing</a:t>
            </a:r>
          </a:p>
        </p:txBody>
      </p:sp>
      <p:sp>
        <p:nvSpPr>
          <p:cNvPr id="4" name="TextBox 4"/>
          <p:cNvSpPr txBox="1"/>
          <p:nvPr/>
        </p:nvSpPr>
        <p:spPr>
          <a:xfrm>
            <a:off x="3762977" y="5948865"/>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Malware</a:t>
            </a:r>
          </a:p>
        </p:txBody>
      </p:sp>
      <p:sp>
        <p:nvSpPr>
          <p:cNvPr id="5" name="TextBox 5"/>
          <p:cNvSpPr txBox="1"/>
          <p:nvPr/>
        </p:nvSpPr>
        <p:spPr>
          <a:xfrm>
            <a:off x="3762977" y="7775856"/>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Identity Theft</a:t>
            </a:r>
          </a:p>
        </p:txBody>
      </p:sp>
      <p:sp>
        <p:nvSpPr>
          <p:cNvPr id="6" name="TextBox 6"/>
          <p:cNvSpPr txBox="1"/>
          <p:nvPr/>
        </p:nvSpPr>
        <p:spPr>
          <a:xfrm>
            <a:off x="1773860" y="848177"/>
            <a:ext cx="6850401" cy="85603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Calibri (MS) Bold"/>
                <a:ea typeface="Calibri (MS) Bold"/>
                <a:cs typeface="Calibri (MS) Bold"/>
                <a:sym typeface="Calibri (MS) Bold"/>
              </a:rPr>
              <a:t>Proposed Contributions</a:t>
            </a:r>
          </a:p>
        </p:txBody>
      </p:sp>
      <p:sp>
        <p:nvSpPr>
          <p:cNvPr id="7" name="TextBox 7"/>
          <p:cNvSpPr txBox="1"/>
          <p:nvPr/>
        </p:nvSpPr>
        <p:spPr>
          <a:xfrm>
            <a:off x="761605" y="2387402"/>
            <a:ext cx="7761691" cy="6155531"/>
          </a:xfrm>
          <a:prstGeom prst="rect">
            <a:avLst/>
          </a:prstGeom>
        </p:spPr>
        <p:txBody>
          <a:bodyPr lIns="0" tIns="0" rIns="0" bIns="0" rtlCol="0" anchor="t">
            <a:spAutoFit/>
          </a:bodyPr>
          <a:lstStyle/>
          <a:p>
            <a:pPr algn="just">
              <a:lnSpc>
                <a:spcPts val="3954"/>
              </a:lnSpc>
            </a:pPr>
            <a:r>
              <a:rPr lang="en-US" sz="3499" b="1" dirty="0">
                <a:solidFill>
                  <a:srgbClr val="000000"/>
                </a:solidFill>
                <a:latin typeface="Calibri (MS) Bold"/>
                <a:ea typeface="Calibri (MS) Bold"/>
                <a:cs typeface="Calibri (MS) Bold"/>
                <a:sym typeface="Calibri (MS) Bold"/>
              </a:rPr>
              <a:t>Key Contributions</a:t>
            </a:r>
          </a:p>
          <a:p>
            <a:pPr algn="just">
              <a:lnSpc>
                <a:spcPts val="3954"/>
              </a:lnSpc>
            </a:pPr>
            <a:endParaRPr lang="en-US" sz="3499" b="1" dirty="0">
              <a:solidFill>
                <a:srgbClr val="000000"/>
              </a:solidFill>
              <a:latin typeface="Calibri (MS) Bold"/>
              <a:ea typeface="Calibri (MS) Bold"/>
              <a:cs typeface="Calibri (MS) Bold"/>
              <a:sym typeface="Calibri (MS) Bold"/>
            </a:endParaRPr>
          </a:p>
          <a:p>
            <a:pPr marL="755647" lvl="1" indent="-377824" algn="just">
              <a:lnSpc>
                <a:spcPts val="3954"/>
              </a:lnSpc>
              <a:buFont typeface="Arial"/>
              <a:buChar char="•"/>
            </a:pPr>
            <a:r>
              <a:rPr lang="en-US" sz="3499" dirty="0">
                <a:solidFill>
                  <a:srgbClr val="000000"/>
                </a:solidFill>
                <a:latin typeface="Calibri (MS)"/>
                <a:ea typeface="Calibri (MS)"/>
                <a:cs typeface="Calibri (MS)"/>
                <a:sym typeface="Calibri (MS)"/>
              </a:rPr>
              <a:t>Detect numerical anomalies using Benford's Law</a:t>
            </a:r>
          </a:p>
          <a:p>
            <a:pPr marL="755647" lvl="1" indent="-377824" algn="just">
              <a:lnSpc>
                <a:spcPts val="3954"/>
              </a:lnSpc>
              <a:buFont typeface="Arial"/>
              <a:buChar char="•"/>
            </a:pPr>
            <a:r>
              <a:rPr lang="en-US" sz="3499" dirty="0">
                <a:solidFill>
                  <a:srgbClr val="000000"/>
                </a:solidFill>
                <a:latin typeface="Calibri (MS)"/>
                <a:ea typeface="Calibri (MS)"/>
                <a:cs typeface="Calibri (MS)"/>
                <a:sym typeface="Calibri (MS)"/>
              </a:rPr>
              <a:t>Learn hidden fraud patterns using Graph Neural Networks</a:t>
            </a:r>
          </a:p>
          <a:p>
            <a:pPr marL="755647" lvl="1" indent="-377824" algn="just">
              <a:lnSpc>
                <a:spcPts val="3954"/>
              </a:lnSpc>
              <a:buFont typeface="Arial"/>
              <a:buChar char="•"/>
            </a:pPr>
            <a:r>
              <a:rPr lang="en-US" sz="3499" dirty="0">
                <a:solidFill>
                  <a:srgbClr val="000000"/>
                </a:solidFill>
                <a:latin typeface="Calibri (MS)"/>
                <a:ea typeface="Calibri (MS)"/>
                <a:cs typeface="Calibri (MS)"/>
                <a:sym typeface="Calibri (MS)"/>
              </a:rPr>
              <a:t>Generate transparent predictions through Explainable AI</a:t>
            </a:r>
          </a:p>
          <a:p>
            <a:pPr marL="755647" lvl="1" indent="-377824" algn="just">
              <a:lnSpc>
                <a:spcPts val="3954"/>
              </a:lnSpc>
              <a:buFont typeface="Arial"/>
              <a:buChar char="•"/>
            </a:pPr>
            <a:r>
              <a:rPr lang="en-US" sz="3499" dirty="0">
                <a:solidFill>
                  <a:srgbClr val="000000"/>
                </a:solidFill>
                <a:latin typeface="Calibri (MS)"/>
                <a:ea typeface="Calibri (MS)"/>
                <a:cs typeface="Calibri (MS)"/>
                <a:sym typeface="Calibri (MS)"/>
              </a:rPr>
              <a:t>Compute a Hybrid Fraud Risk Score by combining statistical and graph-based evidence</a:t>
            </a:r>
          </a:p>
          <a:p>
            <a:pPr algn="just">
              <a:lnSpc>
                <a:spcPts val="3954"/>
              </a:lnSpc>
              <a:spcBef>
                <a:spcPct val="0"/>
              </a:spcBef>
            </a:pPr>
            <a:endParaRPr lang="en-US" sz="3499" dirty="0">
              <a:solidFill>
                <a:srgbClr val="000000"/>
              </a:solidFill>
              <a:latin typeface="Calibri (MS)"/>
              <a:ea typeface="Calibri (MS)"/>
              <a:cs typeface="Calibri (MS)"/>
              <a:sym typeface="Calibri (MS)"/>
            </a:endParaRPr>
          </a:p>
        </p:txBody>
      </p:sp>
      <p:sp>
        <p:nvSpPr>
          <p:cNvPr id="8" name="TextBox 8"/>
          <p:cNvSpPr txBox="1"/>
          <p:nvPr/>
        </p:nvSpPr>
        <p:spPr>
          <a:xfrm>
            <a:off x="9231651" y="2540223"/>
            <a:ext cx="9056349" cy="5206554"/>
          </a:xfrm>
          <a:prstGeom prst="rect">
            <a:avLst/>
          </a:prstGeom>
        </p:spPr>
        <p:txBody>
          <a:bodyPr wrap="square" lIns="0" tIns="0" rIns="0" bIns="0" rtlCol="0" anchor="t">
            <a:spAutoFit/>
          </a:bodyPr>
          <a:lstStyle/>
          <a:p>
            <a:pPr algn="just">
              <a:lnSpc>
                <a:spcPts val="3954"/>
              </a:lnSpc>
            </a:pPr>
            <a:r>
              <a:rPr lang="en-US" sz="3499" b="1" dirty="0">
                <a:solidFill>
                  <a:srgbClr val="000000"/>
                </a:solidFill>
                <a:latin typeface="Calibri (MS) Bold"/>
                <a:ea typeface="Calibri (MS) Bold"/>
                <a:cs typeface="Calibri (MS) Bold"/>
                <a:sym typeface="Calibri (MS) Bold"/>
              </a:rPr>
              <a:t>Technology Stack</a:t>
            </a:r>
          </a:p>
          <a:p>
            <a:pPr algn="just">
              <a:lnSpc>
                <a:spcPts val="3390"/>
              </a:lnSpc>
            </a:pPr>
            <a:endParaRPr lang="en-US" sz="3499" b="1" dirty="0">
              <a:solidFill>
                <a:srgbClr val="000000"/>
              </a:solidFill>
              <a:latin typeface="Calibri (MS) Bold"/>
              <a:ea typeface="Calibri (MS) Bold"/>
              <a:cs typeface="Calibri (MS) Bold"/>
              <a:sym typeface="Calibri (MS) Bold"/>
            </a:endParaRPr>
          </a:p>
          <a:p>
            <a:pPr lvl="0"/>
            <a:r>
              <a:rPr lang="en-IN" sz="3500" b="1" dirty="0"/>
              <a:t>Programming Language:</a:t>
            </a:r>
            <a:r>
              <a:rPr lang="en-IN" sz="3500" dirty="0"/>
              <a:t> Python</a:t>
            </a:r>
          </a:p>
          <a:p>
            <a:pPr lvl="0"/>
            <a:r>
              <a:rPr lang="en-IN" sz="3500" b="1" dirty="0"/>
              <a:t>Data Processing:</a:t>
            </a:r>
            <a:r>
              <a:rPr lang="en-IN" sz="3500" dirty="0"/>
              <a:t> Pandas, NumPy</a:t>
            </a:r>
          </a:p>
          <a:p>
            <a:pPr lvl="0"/>
            <a:r>
              <a:rPr lang="en-IN" sz="3500" b="1" dirty="0"/>
              <a:t>Graph Neural Networks:</a:t>
            </a:r>
            <a:r>
              <a:rPr lang="en-IN" sz="3500" dirty="0"/>
              <a:t> </a:t>
            </a:r>
            <a:r>
              <a:rPr lang="en-IN" sz="3500" dirty="0" err="1"/>
              <a:t>PyTorch</a:t>
            </a:r>
            <a:r>
              <a:rPr lang="en-IN" sz="3500" dirty="0"/>
              <a:t> Geometric (</a:t>
            </a:r>
            <a:r>
              <a:rPr lang="en-IN" sz="3500" dirty="0" err="1"/>
              <a:t>GraphSAGE</a:t>
            </a:r>
            <a:r>
              <a:rPr lang="en-IN" sz="3500" dirty="0"/>
              <a:t>)</a:t>
            </a:r>
          </a:p>
          <a:p>
            <a:pPr lvl="0"/>
            <a:r>
              <a:rPr lang="en-IN" sz="3500" b="1" dirty="0"/>
              <a:t>Graph Construction and Visualization:</a:t>
            </a:r>
            <a:r>
              <a:rPr lang="en-IN" sz="3500" dirty="0"/>
              <a:t> </a:t>
            </a:r>
            <a:r>
              <a:rPr lang="en-IN" sz="3500" dirty="0" err="1"/>
              <a:t>NetworkX</a:t>
            </a:r>
            <a:endParaRPr lang="en-IN" sz="3500" dirty="0"/>
          </a:p>
          <a:p>
            <a:pPr lvl="0"/>
            <a:r>
              <a:rPr lang="en-IN" sz="3500" b="1" dirty="0"/>
              <a:t>Explainable AI:</a:t>
            </a:r>
            <a:r>
              <a:rPr lang="en-IN" sz="3500" dirty="0"/>
              <a:t> SHAP (</a:t>
            </a:r>
            <a:r>
              <a:rPr lang="en-IN" sz="3500" dirty="0" err="1"/>
              <a:t>KernelExplainer</a:t>
            </a:r>
            <a:r>
              <a:rPr lang="en-IN" sz="3500" dirty="0"/>
              <a:t>)</a:t>
            </a:r>
          </a:p>
          <a:p>
            <a:pPr marL="377823" lvl="1" algn="just">
              <a:lnSpc>
                <a:spcPts val="3954"/>
              </a:lnSpc>
            </a:pPr>
            <a:endParaRPr lang="en-US" sz="3499" dirty="0">
              <a:solidFill>
                <a:srgbClr val="000000"/>
              </a:solidFill>
              <a:latin typeface="Calibri (MS)"/>
              <a:ea typeface="Calibri (MS)"/>
              <a:cs typeface="Calibri (MS)"/>
              <a:sym typeface="Calibri (MS)"/>
            </a:endParaRPr>
          </a:p>
          <a:p>
            <a:pPr algn="just">
              <a:lnSpc>
                <a:spcPts val="3954"/>
              </a:lnSpc>
              <a:spcBef>
                <a:spcPct val="0"/>
              </a:spcBef>
            </a:pPr>
            <a:endParaRPr lang="en-US" sz="3499" dirty="0">
              <a:solidFill>
                <a:srgbClr val="000000"/>
              </a:solidFill>
              <a:latin typeface="Calibri (MS)"/>
              <a:ea typeface="Calibri (MS)"/>
              <a:cs typeface="Calibri (MS)"/>
              <a:sym typeface="Calibri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FFFFF">
                <a:alpha val="100000"/>
              </a:srgbClr>
            </a:gs>
            <a:gs pos="100000">
              <a:srgbClr val="FA8DFF">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2237271" y="4342019"/>
            <a:ext cx="848452" cy="848452"/>
          </a:xfrm>
          <a:custGeom>
            <a:avLst/>
            <a:gdLst/>
            <a:ahLst/>
            <a:cxnLst/>
            <a:rect l="l" t="t" r="r" b="b"/>
            <a:pathLst>
              <a:path w="848452" h="848452">
                <a:moveTo>
                  <a:pt x="0" y="0"/>
                </a:moveTo>
                <a:lnTo>
                  <a:pt x="848452" y="0"/>
                </a:lnTo>
                <a:lnTo>
                  <a:pt x="848452" y="848453"/>
                </a:lnTo>
                <a:lnTo>
                  <a:pt x="0" y="848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3762977" y="4121490"/>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Phishing</a:t>
            </a:r>
          </a:p>
        </p:txBody>
      </p:sp>
      <p:sp>
        <p:nvSpPr>
          <p:cNvPr id="4" name="TextBox 4"/>
          <p:cNvSpPr txBox="1"/>
          <p:nvPr/>
        </p:nvSpPr>
        <p:spPr>
          <a:xfrm>
            <a:off x="3762977" y="5948865"/>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Malware</a:t>
            </a:r>
          </a:p>
        </p:txBody>
      </p:sp>
      <p:sp>
        <p:nvSpPr>
          <p:cNvPr id="5" name="TextBox 5"/>
          <p:cNvSpPr txBox="1"/>
          <p:nvPr/>
        </p:nvSpPr>
        <p:spPr>
          <a:xfrm>
            <a:off x="3762977" y="7775856"/>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Identity Theft</a:t>
            </a:r>
          </a:p>
        </p:txBody>
      </p:sp>
      <p:sp>
        <p:nvSpPr>
          <p:cNvPr id="6" name="TextBox 6"/>
          <p:cNvSpPr txBox="1"/>
          <p:nvPr/>
        </p:nvSpPr>
        <p:spPr>
          <a:xfrm>
            <a:off x="1028700" y="962025"/>
            <a:ext cx="5794129" cy="85603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Calibri (MS) Bold"/>
                <a:ea typeface="Calibri (MS) Bold"/>
                <a:cs typeface="Calibri (MS) Bold"/>
                <a:sym typeface="Calibri (MS) Bold"/>
              </a:rPr>
              <a:t>Expected Outcomes</a:t>
            </a:r>
          </a:p>
        </p:txBody>
      </p:sp>
      <p:sp>
        <p:nvSpPr>
          <p:cNvPr id="7" name="TextBox 7"/>
          <p:cNvSpPr txBox="1"/>
          <p:nvPr/>
        </p:nvSpPr>
        <p:spPr>
          <a:xfrm>
            <a:off x="1028700" y="2821471"/>
            <a:ext cx="7761691" cy="4438078"/>
          </a:xfrm>
          <a:prstGeom prst="rect">
            <a:avLst/>
          </a:prstGeom>
        </p:spPr>
        <p:txBody>
          <a:bodyPr lIns="0" tIns="0" rIns="0" bIns="0" rtlCol="0" anchor="t">
            <a:spAutoFit/>
          </a:bodyPr>
          <a:lstStyle/>
          <a:p>
            <a:pPr algn="just">
              <a:lnSpc>
                <a:spcPts val="3728"/>
              </a:lnSpc>
            </a:pPr>
            <a:r>
              <a:rPr lang="en-US" sz="3299" b="1">
                <a:solidFill>
                  <a:srgbClr val="000000"/>
                </a:solidFill>
                <a:latin typeface="Calibri (MS) Bold"/>
                <a:ea typeface="Calibri (MS) Bold"/>
                <a:cs typeface="Calibri (MS) Bold"/>
                <a:sym typeface="Calibri (MS) Bold"/>
              </a:rPr>
              <a:t>Expected Outcomes</a:t>
            </a:r>
          </a:p>
          <a:p>
            <a:pPr algn="just">
              <a:lnSpc>
                <a:spcPts val="3728"/>
              </a:lnSpc>
            </a:pPr>
            <a:endParaRPr lang="en-US" sz="3299" b="1">
              <a:solidFill>
                <a:srgbClr val="000000"/>
              </a:solidFill>
              <a:latin typeface="Calibri (MS) Bold"/>
              <a:ea typeface="Calibri (MS) Bold"/>
              <a:cs typeface="Calibri (MS) Bold"/>
              <a:sym typeface="Calibri (MS) Bold"/>
            </a:endParaRP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Improved fraud detection accuracy</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Early identification of coordinated fraud networks</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Reduced false positive rate</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Explainable and auditor-friendly fraud predictions</a:t>
            </a:r>
          </a:p>
          <a:p>
            <a:pPr marL="647700" lvl="1" indent="-323850" algn="just">
              <a:lnSpc>
                <a:spcPts val="3390"/>
              </a:lnSpc>
              <a:buFont typeface="Arial"/>
              <a:buChar char="•"/>
            </a:pPr>
            <a:r>
              <a:rPr lang="en-US" sz="3000">
                <a:solidFill>
                  <a:srgbClr val="000000"/>
                </a:solidFill>
                <a:latin typeface="Calibri (MS)"/>
                <a:ea typeface="Calibri (MS)"/>
                <a:cs typeface="Calibri (MS)"/>
                <a:sym typeface="Calibri (MS)"/>
              </a:rPr>
              <a:t>Interactive visualization for forensic analysis</a:t>
            </a:r>
          </a:p>
          <a:p>
            <a:pPr algn="just">
              <a:lnSpc>
                <a:spcPts val="3390"/>
              </a:lnSpc>
              <a:spcBef>
                <a:spcPct val="0"/>
              </a:spcBef>
            </a:pPr>
            <a:endParaRPr lang="en-US" sz="3000">
              <a:solidFill>
                <a:srgbClr val="000000"/>
              </a:solidFill>
              <a:latin typeface="Calibri (MS)"/>
              <a:ea typeface="Calibri (MS)"/>
              <a:cs typeface="Calibri (MS)"/>
              <a:sym typeface="Calibri (MS)"/>
            </a:endParaRPr>
          </a:p>
        </p:txBody>
      </p:sp>
      <p:sp>
        <p:nvSpPr>
          <p:cNvPr id="8" name="TextBox 8"/>
          <p:cNvSpPr txBox="1"/>
          <p:nvPr/>
        </p:nvSpPr>
        <p:spPr>
          <a:xfrm>
            <a:off x="9421756" y="2821471"/>
            <a:ext cx="7837544" cy="3129062"/>
          </a:xfrm>
          <a:prstGeom prst="rect">
            <a:avLst/>
          </a:prstGeom>
        </p:spPr>
        <p:txBody>
          <a:bodyPr lIns="0" tIns="0" rIns="0" bIns="0" rtlCol="0" anchor="t">
            <a:spAutoFit/>
          </a:bodyPr>
          <a:lstStyle/>
          <a:p>
            <a:pPr algn="just">
              <a:lnSpc>
                <a:spcPts val="3728"/>
              </a:lnSpc>
            </a:pPr>
            <a:r>
              <a:rPr lang="en-US" sz="3299" b="1" dirty="0">
                <a:solidFill>
                  <a:srgbClr val="000000"/>
                </a:solidFill>
                <a:latin typeface="Calibri (MS) Bold"/>
                <a:ea typeface="Calibri (MS) Bold"/>
                <a:cs typeface="Calibri (MS) Bold"/>
                <a:sym typeface="Calibri (MS) Bold"/>
              </a:rPr>
              <a:t>Applications</a:t>
            </a:r>
          </a:p>
          <a:p>
            <a:pPr algn="just">
              <a:lnSpc>
                <a:spcPts val="3728"/>
              </a:lnSpc>
            </a:pPr>
            <a:endParaRPr lang="en-US" sz="3299" b="1" dirty="0">
              <a:solidFill>
                <a:srgbClr val="000000"/>
              </a:solidFill>
              <a:latin typeface="Calibri (MS) Bold"/>
              <a:ea typeface="Calibri (MS) Bold"/>
              <a:cs typeface="Calibri (MS) Bold"/>
              <a:sym typeface="Calibri (MS) Bold"/>
            </a:endParaRPr>
          </a:p>
          <a:p>
            <a:pPr marL="647700" lvl="1" indent="-323850" algn="just">
              <a:lnSpc>
                <a:spcPts val="3390"/>
              </a:lnSpc>
              <a:buFont typeface="Arial"/>
              <a:buChar char="•"/>
            </a:pPr>
            <a:r>
              <a:rPr lang="en-US" sz="3000" dirty="0">
                <a:solidFill>
                  <a:srgbClr val="000000"/>
                </a:solidFill>
                <a:latin typeface="Calibri (MS)"/>
                <a:ea typeface="Calibri (MS)"/>
                <a:cs typeface="Calibri (MS)"/>
                <a:sym typeface="Calibri (MS)"/>
              </a:rPr>
              <a:t>Banking and Financial Services</a:t>
            </a:r>
          </a:p>
          <a:p>
            <a:pPr marL="647700" lvl="1" indent="-323850" algn="just">
              <a:lnSpc>
                <a:spcPts val="3390"/>
              </a:lnSpc>
              <a:buFont typeface="Arial"/>
              <a:buChar char="•"/>
            </a:pPr>
            <a:r>
              <a:rPr lang="en-US" sz="3000" dirty="0">
                <a:solidFill>
                  <a:srgbClr val="000000"/>
                </a:solidFill>
                <a:latin typeface="Calibri (MS)"/>
                <a:ea typeface="Calibri (MS)"/>
                <a:cs typeface="Calibri (MS)"/>
                <a:sym typeface="Calibri (MS)"/>
              </a:rPr>
              <a:t>Digital Payment Systems</a:t>
            </a:r>
          </a:p>
          <a:p>
            <a:pPr marL="647700" lvl="1" indent="-323850" algn="just">
              <a:lnSpc>
                <a:spcPts val="3390"/>
              </a:lnSpc>
              <a:buFont typeface="Arial"/>
              <a:buChar char="•"/>
            </a:pPr>
            <a:r>
              <a:rPr lang="en-US" sz="3000" dirty="0">
                <a:solidFill>
                  <a:srgbClr val="000000"/>
                </a:solidFill>
                <a:latin typeface="Calibri (MS)"/>
                <a:ea typeface="Calibri (MS)"/>
                <a:cs typeface="Calibri (MS)"/>
                <a:sym typeface="Calibri (MS)"/>
              </a:rPr>
              <a:t>Insurance Fraud Detection</a:t>
            </a:r>
          </a:p>
          <a:p>
            <a:pPr marL="647700" lvl="1" indent="-323850" algn="just">
              <a:lnSpc>
                <a:spcPts val="3390"/>
              </a:lnSpc>
              <a:buFont typeface="Arial"/>
              <a:buChar char="•"/>
            </a:pPr>
            <a:r>
              <a:rPr lang="en-US" sz="3000" dirty="0">
                <a:solidFill>
                  <a:srgbClr val="000000"/>
                </a:solidFill>
                <a:latin typeface="Calibri (MS)"/>
                <a:ea typeface="Calibri (MS)"/>
                <a:cs typeface="Calibri (MS)"/>
                <a:sym typeface="Calibri (MS)"/>
              </a:rPr>
              <a:t>Anti-Money Laundering (AML)</a:t>
            </a:r>
          </a:p>
          <a:p>
            <a:pPr algn="just">
              <a:lnSpc>
                <a:spcPts val="3390"/>
              </a:lnSpc>
              <a:spcBef>
                <a:spcPct val="0"/>
              </a:spcBef>
            </a:pPr>
            <a:endParaRPr lang="en-US" sz="3000" dirty="0">
              <a:solidFill>
                <a:srgbClr val="000000"/>
              </a:solidFill>
              <a:latin typeface="Calibri (MS)"/>
              <a:ea typeface="Calibri (MS)"/>
              <a:cs typeface="Calibri (MS)"/>
              <a:sym typeface="Calibri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FFFFF">
                <a:alpha val="100000"/>
              </a:srgbClr>
            </a:gs>
            <a:gs pos="100000">
              <a:srgbClr val="FA8DFF">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2237271" y="4342019"/>
            <a:ext cx="848452" cy="848452"/>
          </a:xfrm>
          <a:custGeom>
            <a:avLst/>
            <a:gdLst/>
            <a:ahLst/>
            <a:cxnLst/>
            <a:rect l="l" t="t" r="r" b="b"/>
            <a:pathLst>
              <a:path w="848452" h="848452">
                <a:moveTo>
                  <a:pt x="0" y="0"/>
                </a:moveTo>
                <a:lnTo>
                  <a:pt x="848452" y="0"/>
                </a:lnTo>
                <a:lnTo>
                  <a:pt x="848452" y="848453"/>
                </a:lnTo>
                <a:lnTo>
                  <a:pt x="0" y="848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3762977" y="4121490"/>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Phishing</a:t>
            </a:r>
          </a:p>
        </p:txBody>
      </p:sp>
      <p:sp>
        <p:nvSpPr>
          <p:cNvPr id="4" name="TextBox 4"/>
          <p:cNvSpPr txBox="1"/>
          <p:nvPr/>
        </p:nvSpPr>
        <p:spPr>
          <a:xfrm>
            <a:off x="3762977" y="5948865"/>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Malware</a:t>
            </a:r>
          </a:p>
        </p:txBody>
      </p:sp>
      <p:sp>
        <p:nvSpPr>
          <p:cNvPr id="5" name="TextBox 5"/>
          <p:cNvSpPr txBox="1"/>
          <p:nvPr/>
        </p:nvSpPr>
        <p:spPr>
          <a:xfrm>
            <a:off x="3762977" y="7775856"/>
            <a:ext cx="3783457" cy="403583"/>
          </a:xfrm>
          <a:prstGeom prst="rect">
            <a:avLst/>
          </a:prstGeom>
        </p:spPr>
        <p:txBody>
          <a:bodyPr lIns="0" tIns="0" rIns="0" bIns="0" rtlCol="0" anchor="t">
            <a:spAutoFit/>
          </a:bodyPr>
          <a:lstStyle/>
          <a:p>
            <a:pPr algn="l">
              <a:lnSpc>
                <a:spcPts val="2781"/>
              </a:lnSpc>
            </a:pPr>
            <a:r>
              <a:rPr lang="en-US" sz="2461">
                <a:solidFill>
                  <a:srgbClr val="FFFFFF"/>
                </a:solidFill>
                <a:latin typeface="Calibri (MS)"/>
                <a:ea typeface="Calibri (MS)"/>
                <a:cs typeface="Calibri (MS)"/>
                <a:sym typeface="Calibri (MS)"/>
              </a:rPr>
              <a:t>Identity Theft</a:t>
            </a:r>
          </a:p>
        </p:txBody>
      </p:sp>
      <p:sp>
        <p:nvSpPr>
          <p:cNvPr id="6" name="TextBox 6"/>
          <p:cNvSpPr txBox="1"/>
          <p:nvPr/>
        </p:nvSpPr>
        <p:spPr>
          <a:xfrm>
            <a:off x="1116117" y="2155088"/>
            <a:ext cx="3939212" cy="856031"/>
          </a:xfrm>
          <a:prstGeom prst="rect">
            <a:avLst/>
          </a:prstGeom>
        </p:spPr>
        <p:txBody>
          <a:bodyPr lIns="0" tIns="0" rIns="0" bIns="0" rtlCol="0" anchor="t">
            <a:spAutoFit/>
          </a:bodyPr>
          <a:lstStyle/>
          <a:p>
            <a:pPr algn="ctr">
              <a:lnSpc>
                <a:spcPts val="5898"/>
              </a:lnSpc>
              <a:spcBef>
                <a:spcPct val="0"/>
              </a:spcBef>
            </a:pPr>
            <a:r>
              <a:rPr lang="en-US" sz="5220" b="1">
                <a:solidFill>
                  <a:srgbClr val="000000"/>
                </a:solidFill>
                <a:latin typeface="Calibri (MS) Bold"/>
                <a:ea typeface="Calibri (MS) Bold"/>
                <a:cs typeface="Calibri (MS) Bold"/>
                <a:sym typeface="Calibri (MS) Bold"/>
              </a:rPr>
              <a:t>Conclusion</a:t>
            </a:r>
          </a:p>
        </p:txBody>
      </p:sp>
      <p:sp>
        <p:nvSpPr>
          <p:cNvPr id="7" name="TextBox 7"/>
          <p:cNvSpPr txBox="1"/>
          <p:nvPr/>
        </p:nvSpPr>
        <p:spPr>
          <a:xfrm>
            <a:off x="1892881" y="3639769"/>
            <a:ext cx="13455255" cy="3493770"/>
          </a:xfrm>
          <a:prstGeom prst="rect">
            <a:avLst/>
          </a:prstGeom>
        </p:spPr>
        <p:txBody>
          <a:bodyPr lIns="0" tIns="0" rIns="0" bIns="0" rtlCol="0" anchor="t">
            <a:spAutoFit/>
          </a:bodyPr>
          <a:lstStyle/>
          <a:p>
            <a:pPr algn="just">
              <a:lnSpc>
                <a:spcPts val="3390"/>
              </a:lnSpc>
            </a:pPr>
            <a:r>
              <a:rPr lang="en-US" sz="3000" dirty="0" err="1">
                <a:solidFill>
                  <a:srgbClr val="000000"/>
                </a:solidFill>
                <a:latin typeface="Calibri (MS)"/>
                <a:ea typeface="Calibri (MS)"/>
                <a:cs typeface="Calibri (MS)"/>
                <a:sym typeface="Calibri (MS)"/>
              </a:rPr>
              <a:t>ForensicFusion</a:t>
            </a:r>
            <a:r>
              <a:rPr lang="en-US" sz="3000" dirty="0">
                <a:solidFill>
                  <a:srgbClr val="000000"/>
                </a:solidFill>
                <a:latin typeface="Calibri (MS)"/>
                <a:ea typeface="Calibri (MS)"/>
                <a:cs typeface="Calibri (MS)"/>
                <a:sym typeface="Calibri (MS)"/>
              </a:rPr>
              <a:t> extends the existing graph-based fraud detection framework by integrating Benford's Law, Graph Neural Networks and Explainable AI into a single forensic intelligence system.</a:t>
            </a:r>
          </a:p>
          <a:p>
            <a:pPr algn="just">
              <a:lnSpc>
                <a:spcPts val="3390"/>
              </a:lnSpc>
            </a:pPr>
            <a:endParaRPr lang="en-US" sz="3000" dirty="0">
              <a:solidFill>
                <a:srgbClr val="000000"/>
              </a:solidFill>
              <a:latin typeface="Calibri (MS)"/>
              <a:ea typeface="Calibri (MS)"/>
              <a:cs typeface="Calibri (MS)"/>
              <a:sym typeface="Calibri (MS)"/>
            </a:endParaRPr>
          </a:p>
          <a:p>
            <a:pPr algn="just">
              <a:lnSpc>
                <a:spcPts val="3390"/>
              </a:lnSpc>
            </a:pPr>
            <a:r>
              <a:rPr lang="en-US" sz="3000" dirty="0">
                <a:solidFill>
                  <a:srgbClr val="000000"/>
                </a:solidFill>
                <a:latin typeface="Calibri (MS)"/>
                <a:ea typeface="Calibri (MS)"/>
                <a:cs typeface="Calibri (MS)"/>
                <a:sym typeface="Calibri (MS)"/>
              </a:rPr>
              <a:t>The proposed framework aims to improve detection accuracy, provide interpretable predictions, and support investigators through a comprehensive fraud risk assessment platform.</a:t>
            </a:r>
          </a:p>
          <a:p>
            <a:pPr algn="just">
              <a:lnSpc>
                <a:spcPts val="3390"/>
              </a:lnSpc>
              <a:spcBef>
                <a:spcPct val="0"/>
              </a:spcBef>
            </a:pPr>
            <a:endParaRPr lang="en-US" sz="3000" dirty="0">
              <a:solidFill>
                <a:srgbClr val="000000"/>
              </a:solidFill>
              <a:latin typeface="Calibri (MS)"/>
              <a:ea typeface="Calibri (MS)"/>
              <a:cs typeface="Calibri (MS)"/>
              <a:sym typeface="Calibri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507</Words>
  <Application>Microsoft Office PowerPoint</Application>
  <PresentationFormat>Custom</PresentationFormat>
  <Paragraphs>93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 (MS) Bold</vt:lpstr>
      <vt:lpstr>Calibri (MS)</vt:lpstr>
      <vt:lpstr>Calibri</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Purple Gradient Modern Elegant Technology Keynote Presentation</dc:title>
  <dc:creator>madhavi reddy</dc:creator>
  <cp:lastModifiedBy>Hemila S</cp:lastModifiedBy>
  <cp:revision>10</cp:revision>
  <dcterms:created xsi:type="dcterms:W3CDTF">2006-08-16T00:00:00Z</dcterms:created>
  <dcterms:modified xsi:type="dcterms:W3CDTF">2026-10-27T16:31:08Z</dcterms:modified>
  <dc:identifier>DAHRP2v-iHA</dc:identifier>
</cp:coreProperties>
</file>